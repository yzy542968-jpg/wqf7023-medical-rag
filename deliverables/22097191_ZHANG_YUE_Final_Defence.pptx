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e6b75467a04d25" /><Relationship Type="http://schemas.openxmlformats.org/officeDocument/2006/relationships/extended-properties" Target="/docProps/app.xml" Id="R5282e7f49aa644d1" /><Relationship Type="http://schemas.openxmlformats.org/officeDocument/2006/relationships/officeDocument" Target="/ppt/presentation.xml" Id="Re31f9cd8abfe4c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bfc5e49ddf4e99"/>
  </p:sldMasterIdLst>
  <p:notesMasterIdLst>
    <p:notesMasterId xmlns:r="http://schemas.openxmlformats.org/officeDocument/2006/relationships" r:id="R6558aa3d750a4355"/>
  </p:notesMasterIdLst>
  <p:sldIdLst>
    <p:sldId xmlns:r="http://schemas.openxmlformats.org/officeDocument/2006/relationships" id="256" r:id="R7838b760b3bc4925"/>
    <p:sldId xmlns:r="http://schemas.openxmlformats.org/officeDocument/2006/relationships" id="257" r:id="Rfe4a399ff7704e21"/>
    <p:sldId xmlns:r="http://schemas.openxmlformats.org/officeDocument/2006/relationships" id="258" r:id="Red6ca2ef13824b9c"/>
    <p:sldId xmlns:r="http://schemas.openxmlformats.org/officeDocument/2006/relationships" id="259" r:id="R915938ade8dd415b"/>
    <p:sldId xmlns:r="http://schemas.openxmlformats.org/officeDocument/2006/relationships" id="260" r:id="R210a10acfd5040d4"/>
    <p:sldId xmlns:r="http://schemas.openxmlformats.org/officeDocument/2006/relationships" id="261" r:id="R29105ce0fe1c4df0"/>
    <p:sldId xmlns:r="http://schemas.openxmlformats.org/officeDocument/2006/relationships" id="262" r:id="R93840360eadd4f03"/>
    <p:sldId xmlns:r="http://schemas.openxmlformats.org/officeDocument/2006/relationships" id="263" r:id="Rdaecc16b91224543"/>
    <p:sldId xmlns:r="http://schemas.openxmlformats.org/officeDocument/2006/relationships" id="264" r:id="R758576b48be345e0"/>
    <p:sldId xmlns:r="http://schemas.openxmlformats.org/officeDocument/2006/relationships" id="265" r:id="Rf42031b9b2a146e6"/>
    <p:sldId xmlns:r="http://schemas.openxmlformats.org/officeDocument/2006/relationships" id="266" r:id="R82bb5f077349407e"/>
    <p:sldId xmlns:r="http://schemas.openxmlformats.org/officeDocument/2006/relationships" id="267" r:id="R8ddbafcc457140cc"/>
    <p:sldId xmlns:r="http://schemas.openxmlformats.org/officeDocument/2006/relationships" id="268" r:id="R1947dc53f7fb4cad"/>
    <p:sldId xmlns:r="http://schemas.openxmlformats.org/officeDocument/2006/relationships" id="269" r:id="Rf36197b88b774059"/>
    <p:sldId xmlns:r="http://schemas.openxmlformats.org/officeDocument/2006/relationships" id="270" r:id="R582d756f53fc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6e6874bf6c468e" /><Relationship Type="http://schemas.openxmlformats.org/officeDocument/2006/relationships/slideMaster" Target="/ppt/slideMasters/slideMaster1.xml" Id="R3fbfc5e49ddf4e99" /><Relationship Type="http://schemas.openxmlformats.org/officeDocument/2006/relationships/notesMaster" Target="/ppt/notesMasters/notesMaster1.xml" Id="R6558aa3d750a4355" /><Relationship Type="http://schemas.openxmlformats.org/officeDocument/2006/relationships/presProps" Target="/ppt/presProps.xml" Id="R3dea3b066b0649cc" /><Relationship Type="http://schemas.openxmlformats.org/officeDocument/2006/relationships/tableStyles" Target="/ppt/tableStyles.xml" Id="R68395ed3d99e4812" /><Relationship Type="http://schemas.openxmlformats.org/officeDocument/2006/relationships/slide" Target="/ppt/slides/slide1.xml" Id="R7838b760b3bc4925" /><Relationship Type="http://schemas.openxmlformats.org/officeDocument/2006/relationships/slide" Target="/ppt/slides/slide2.xml" Id="Rfe4a399ff7704e21" /><Relationship Type="http://schemas.openxmlformats.org/officeDocument/2006/relationships/slide" Target="/ppt/slides/slide3.xml" Id="Red6ca2ef13824b9c" /><Relationship Type="http://schemas.openxmlformats.org/officeDocument/2006/relationships/slide" Target="/ppt/slides/slide4.xml" Id="R915938ade8dd415b" /><Relationship Type="http://schemas.openxmlformats.org/officeDocument/2006/relationships/slide" Target="/ppt/slides/slide5.xml" Id="R210a10acfd5040d4" /><Relationship Type="http://schemas.openxmlformats.org/officeDocument/2006/relationships/slide" Target="/ppt/slides/slide6.xml" Id="R29105ce0fe1c4df0" /><Relationship Type="http://schemas.openxmlformats.org/officeDocument/2006/relationships/slide" Target="/ppt/slides/slide7.xml" Id="R93840360eadd4f03" /><Relationship Type="http://schemas.openxmlformats.org/officeDocument/2006/relationships/slide" Target="/ppt/slides/slide8.xml" Id="Rdaecc16b91224543" /><Relationship Type="http://schemas.openxmlformats.org/officeDocument/2006/relationships/slide" Target="/ppt/slides/slide9.xml" Id="R758576b48be345e0" /><Relationship Type="http://schemas.openxmlformats.org/officeDocument/2006/relationships/slide" Target="/ppt/slides/slide10.xml" Id="Rf42031b9b2a146e6" /><Relationship Type="http://schemas.openxmlformats.org/officeDocument/2006/relationships/slide" Target="/ppt/slides/slide11.xml" Id="R82bb5f077349407e" /><Relationship Type="http://schemas.openxmlformats.org/officeDocument/2006/relationships/slide" Target="/ppt/slides/slide12.xml" Id="R8ddbafcc457140cc" /><Relationship Type="http://schemas.openxmlformats.org/officeDocument/2006/relationships/slide" Target="/ppt/slides/slide13.xml" Id="R1947dc53f7fb4cad" /><Relationship Type="http://schemas.openxmlformats.org/officeDocument/2006/relationships/slide" Target="/ppt/slides/slide14.xml" Id="Rf36197b88b774059" /><Relationship Type="http://schemas.openxmlformats.org/officeDocument/2006/relationships/slide" Target="/ppt/slides/slide15.xml" Id="R582d756f53fc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d9696d1ba54b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a626da6f0046a8" /><Relationship Type="http://schemas.openxmlformats.org/officeDocument/2006/relationships/notesMaster" Target="/ppt/notesMasters/notesMaster1.xml" Id="R030e5f84083249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1df7f8f5f545e4" /><Relationship Type="http://schemas.openxmlformats.org/officeDocument/2006/relationships/notesMaster" Target="/ppt/notesMasters/notesMaster1.xml" Id="Rd86549d286a5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2e16ddd3a04193" /><Relationship Type="http://schemas.openxmlformats.org/officeDocument/2006/relationships/notesMaster" Target="/ppt/notesMasters/notesMaster1.xml" Id="R1375dfbc3f234d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48347e22014cf8" /><Relationship Type="http://schemas.openxmlformats.org/officeDocument/2006/relationships/notesMaster" Target="/ppt/notesMasters/notesMaster1.xml" Id="R3e98c9c724944b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e1321cbbaf4e08" /><Relationship Type="http://schemas.openxmlformats.org/officeDocument/2006/relationships/notesMaster" Target="/ppt/notesMasters/notesMaster1.xml" Id="R48eee2739e2741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eeaca05c8b4901" /><Relationship Type="http://schemas.openxmlformats.org/officeDocument/2006/relationships/notesMaster" Target="/ppt/notesMasters/notesMaster1.xml" Id="R7f1b963e618f48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ae64f896f4677" /><Relationship Type="http://schemas.openxmlformats.org/officeDocument/2006/relationships/notesMaster" Target="/ppt/notesMasters/notesMaster1.xml" Id="Rb849325d83c042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a722fedf254a72" /><Relationship Type="http://schemas.openxmlformats.org/officeDocument/2006/relationships/notesMaster" Target="/ppt/notesMasters/notesMaster1.xml" Id="R3697df6d09f444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df8cc9a4024416" /><Relationship Type="http://schemas.openxmlformats.org/officeDocument/2006/relationships/notesMaster" Target="/ppt/notesMasters/notesMaster1.xml" Id="Rc4c96514f9a340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66ab9e90ab444b" /><Relationship Type="http://schemas.openxmlformats.org/officeDocument/2006/relationships/notesMaster" Target="/ppt/notesMasters/notesMaster1.xml" Id="R2aa2b24a42d64a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6a0763f3c14e3a" /><Relationship Type="http://schemas.openxmlformats.org/officeDocument/2006/relationships/notesMaster" Target="/ppt/notesMasters/notesMaster1.xml" Id="R4a1f1152bc8649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24d59bee244cd4" /><Relationship Type="http://schemas.openxmlformats.org/officeDocument/2006/relationships/notesMaster" Target="/ppt/notesMasters/notesMaster1.xml" Id="R8369e6433a0d42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37f55596fc4b1c" /><Relationship Type="http://schemas.openxmlformats.org/officeDocument/2006/relationships/notesMaster" Target="/ppt/notesMasters/notesMaster1.xml" Id="Red33b91745aa49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68107e8d4f4b74" /><Relationship Type="http://schemas.openxmlformats.org/officeDocument/2006/relationships/notesMaster" Target="/ppt/notesMasters/notesMaster1.xml" Id="Rc43388d405a346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1a2884408c4a4c" /><Relationship Type="http://schemas.openxmlformats.org/officeDocument/2006/relationships/notesMaster" Target="/ppt/notesMasters/notesMaster1.xml" Id="R32c13421508442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manuscript: docs/P2_V10_V11_FINAL_MANUSCRIPT.md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manuscript, Sections 1.1-1.3 and 3.2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manuscript, Section 1.5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docs/V10_TECHNICAL_FREEZE.md</a:t>
            </a:r>
          </a:p>
          <a:p xmlns:a="http://schemas.openxmlformats.org/drawingml/2006/main">
            <a:r>
              <a:t>- config/v11_development.json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manuscript, Sections 3.5-3.11</a:t>
            </a:r>
          </a:p>
          <a:p xmlns:a="http://schemas.openxmlformats.org/drawingml/2006/main">
            <a:r>
              <a:t>- docs/PROMPT_TEMPLATES.md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data/splits/v10/v10_cluster_disjoint_split.json</a:t>
            </a:r>
          </a:p>
          <a:p xmlns:a="http://schemas.openxmlformats.org/drawingml/2006/main">
            <a:r>
              <a:t>- docs/V10_TECHNICAL_FREEZE.md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data/splits/v10/v10_confirmation_retrieval_summary.json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data/splits/v10/v10_confirmation_retrieval_summary.json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data/splits/v10/v10_fact_attention_2x2_summary.json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data/splits/v10/v10_confirmation_qa_summary.json</a:t>
            </a:r>
          </a:p>
          <a:p xmlns:a="http://schemas.openxmlformats.org/drawingml/2006/main">
            <a:r>
              <a:t>- data/splits/v10/v10_radgraph_metrics_summary.json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data/splits/v11/v11_development_evidence_ablation_summary.json</a:t>
            </a:r>
          </a:p>
          <a:p xmlns:a="http://schemas.openxmlformats.org/drawingml/2006/main">
            <a:r>
              <a:t>- data/splits/v11/v11_medgemma_generation_48_statistical_summary.json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data/splits/v10/v10_confirmation_retrieval_summary.json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data/splits/v11/v11_question_planner_reserved_summary.json</a:t>
            </a:r>
          </a:p>
          <a:p xmlns:a="http://schemas.openxmlformats.org/drawingml/2006/main">
            <a:r>
              <a:t>- data/splits/v11/v11_medgemma_generation_48_statistical_summary.json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manuscript, Sections 5.9-5.10</a:t>
            </a:r>
          </a:p>
          <a:p xmlns:a="http://schemas.openxmlformats.org/drawingml/2006/main">
            <a:r>
              <a:t>- docs/V10_CLINICAL_REVIEW_PROTOCOL.md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manuscript, Chapter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c06c60991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a59b6ce14d4d61" /><Relationship Type="http://schemas.openxmlformats.org/officeDocument/2006/relationships/slideLayout" Target="/ppt/slideLayouts/slideLayout1.xml" Id="R9cf0679969ab48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f0679969ab48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9178909384d1a" /><Relationship Type="http://schemas.openxmlformats.org/officeDocument/2006/relationships/notesSlide" Target="/ppt/notesSlides/notesSlide1.xml" Id="R42d26dfb0fc74e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9f1ebcdea442a" /><Relationship Type="http://schemas.openxmlformats.org/officeDocument/2006/relationships/notesSlide" Target="/ppt/notesSlides/notesSlide2.xml" Id="R2a7ae51cc0c54a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2f9639939499c" /><Relationship Type="http://schemas.openxmlformats.org/officeDocument/2006/relationships/notesSlide" Target="/ppt/notesSlides/notesSlide3.xml" Id="R17ff954deeee42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e9bb4ca8547d9" /><Relationship Type="http://schemas.openxmlformats.org/officeDocument/2006/relationships/notesSlide" Target="/ppt/notesSlides/notesSlide4.xml" Id="R5e3a782cc4d748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8631a0a6140f9" /><Relationship Type="http://schemas.openxmlformats.org/officeDocument/2006/relationships/notesSlide" Target="/ppt/notesSlides/notesSlide5.xml" Id="R28fbb3a720e941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b55ae179e4597" /><Relationship Type="http://schemas.openxmlformats.org/officeDocument/2006/relationships/chart" Target="/ppt/slides/charts/chart1.xml" Id="Rc97df3b1c1904c39" /><Relationship Type="http://schemas.openxmlformats.org/officeDocument/2006/relationships/notesSlide" Target="/ppt/notesSlides/notesSlide6.xml" Id="R7d0ef6b2e6414a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84bfa24474f1f" /><Relationship Type="http://schemas.openxmlformats.org/officeDocument/2006/relationships/chart" Target="/ppt/slides/charts/chart2.xml" Id="Ra72e94c05abd455b" /><Relationship Type="http://schemas.openxmlformats.org/officeDocument/2006/relationships/notesSlide" Target="/ppt/notesSlides/notesSlide7.xml" Id="Re6381dd7f31848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5b6640d564110" /><Relationship Type="http://schemas.openxmlformats.org/officeDocument/2006/relationships/chart" Target="/ppt/slides/charts/chart3.xml" Id="Raf1f1201f31346df" /><Relationship Type="http://schemas.openxmlformats.org/officeDocument/2006/relationships/notesSlide" Target="/ppt/notesSlides/notesSlide8.xml" Id="R2c0edad31bb744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2fed601d94904" /><Relationship Type="http://schemas.openxmlformats.org/officeDocument/2006/relationships/chart" Target="/ppt/slides/charts/chart4.xml" Id="Re62716c6e1e24741" /><Relationship Type="http://schemas.openxmlformats.org/officeDocument/2006/relationships/notesSlide" Target="/ppt/notesSlides/notesSlide9.xml" Id="R75d17c7b41a24b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924d2bbb9435b" /><Relationship Type="http://schemas.openxmlformats.org/officeDocument/2006/relationships/chart" Target="/ppt/slides/charts/chart5.xml" Id="R9bbae558352644ac" /><Relationship Type="http://schemas.openxmlformats.org/officeDocument/2006/relationships/notesSlide" Target="/ppt/notesSlides/notesSlide10.xml" Id="R4cca36efde1344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e2c670ad04c40" /><Relationship Type="http://schemas.openxmlformats.org/officeDocument/2006/relationships/chart" Target="/ppt/slides/charts/chart6.xml" Id="Rafeff09875284ee1" /><Relationship Type="http://schemas.openxmlformats.org/officeDocument/2006/relationships/chart" Target="/ppt/slides/charts/chart7.xml" Id="R2e0e1efb1bb04e04" /><Relationship Type="http://schemas.openxmlformats.org/officeDocument/2006/relationships/notesSlide" Target="/ppt/notesSlides/notesSlide11.xml" Id="Rf6ac1e9720e843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3414aafa64f29" /><Relationship Type="http://schemas.openxmlformats.org/officeDocument/2006/relationships/notesSlide" Target="/ppt/notesSlides/notesSlide12.xml" Id="R81c4cbd7d61b40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adfc72ef24de7" /><Relationship Type="http://schemas.openxmlformats.org/officeDocument/2006/relationships/notesSlide" Target="/ppt/notesSlides/notesSlide13.xml" Id="R9affdcc78a0445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e166e3a324bbc" /><Relationship Type="http://schemas.openxmlformats.org/officeDocument/2006/relationships/notesSlide" Target="/ppt/notesSlides/notesSlide14.xml" Id="Rf21df3f5ce6d44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a579f28ee4deb" /><Relationship Type="http://schemas.openxmlformats.org/officeDocument/2006/relationships/notesSlide" Target="/ppt/notesSlides/notesSlide15.xml" Id="R601a98db93fe451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Cases</c:v>
          </c:tx>
          <c:spPr>
            <a:solidFill xmlns:a="http://schemas.openxmlformats.org/drawingml/2006/main">
              <a:srgbClr val="1769E0"/>
            </a:solidFill>
          </c:spPr>
          <c:cat>
            <c:strLit>
              <c:ptCount val="4"/>
              <c:pt idx="0">
                <c:v>Train</c:v>
              </c:pt>
              <c:pt idx="1">
                <c:v>Calibration</c:v>
              </c:pt>
              <c:pt idx="2">
                <c:v>Validation</c:v>
              </c:pt>
              <c:pt idx="3">
                <c:v>Test</c:v>
              </c:pt>
            </c:strLit>
          </c:cat>
          <c:val>
            <c:numLit>
              <c:formatCode>0.000</c:formatCode>
              <c:ptCount val="4"/>
              <c:pt idx="0">
                <c:v>2510</c:v>
              </c:pt>
              <c:pt idx="1">
                <c:v>383</c:v>
              </c:pt>
              <c:pt idx="2">
                <c:v>384</c:v>
              </c:pt>
              <c:pt idx="3">
                <c:v>574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CBD2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nDCG@10</c:v>
          </c:tx>
          <c:spPr>
            <a:solidFill xmlns:a="http://schemas.openxmlformats.org/drawingml/2006/main">
              <a:srgbClr val="1769E0"/>
            </a:solidFill>
          </c:spPr>
          <c:cat>
            <c:strLit>
              <c:ptCount val="5"/>
              <c:pt idx="0">
                <c:v>R0 BM25</c:v>
              </c:pt>
              <c:pt idx="1">
                <c:v>R1 image</c:v>
              </c:pt>
              <c:pt idx="2">
                <c:v>R2 fixed</c:v>
              </c:pt>
              <c:pt idx="3">
                <c:v>R4 learned</c:v>
              </c:pt>
              <c:pt idx="4">
                <c:v>R5 fact-aware</c:v>
              </c:pt>
            </c:strLit>
          </c:cat>
          <c:val>
            <c:numLit>
              <c:formatCode>0.000</c:formatCode>
              <c:ptCount val="5"/>
              <c:pt idx="0">
                <c:v>0.1426</c:v>
              </c:pt>
              <c:pt idx="1">
                <c:v>0.3348</c:v>
              </c:pt>
              <c:pt idx="2">
                <c:v>0.3176</c:v>
              </c:pt>
              <c:pt idx="3">
                <c:v>0.3491</c:v>
              </c:pt>
              <c:pt idx="4">
                <c:v>0.3601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CBD2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nDCG@10</c:v>
          </c:tx>
          <c:spPr>
            <a:solidFill xmlns:a="http://schemas.openxmlformats.org/drawingml/2006/main">
              <a:srgbClr val="1769E0"/>
            </a:solidFill>
          </c:spPr>
          <c:cat>
            <c:strLit>
              <c:ptCount val="2"/>
              <c:pt idx="0">
                <c:v>Correct image</c:v>
              </c:pt>
              <c:pt idx="1">
                <c:v>100 shuffled
mean</c:v>
              </c:pt>
            </c:strLit>
          </c:cat>
          <c:val>
            <c:numLit>
              <c:formatCode>0.000</c:formatCode>
              <c:ptCount val="2"/>
              <c:pt idx="0">
                <c:v>0.36007</c:v>
              </c:pt>
              <c:pt idx="1">
                <c:v>0.24963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CBD2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 nDCG@10</c:v>
          </c:tx>
          <c:spPr>
            <a:solidFill xmlns:a="http://schemas.openxmlformats.org/drawingml/2006/main">
              <a:srgbClr val="42BCEB"/>
            </a:solidFill>
          </c:spPr>
          <c:cat>
            <c:strLit>
              <c:ptCount val="4"/>
              <c:pt idx="0">
                <c:v>R4 mean</c:v>
              </c:pt>
              <c:pt idx="1">
                <c:v>R4 attention</c:v>
              </c:pt>
              <c:pt idx="2">
                <c:v>R5 mean</c:v>
              </c:pt>
              <c:pt idx="3">
                <c:v>R5 attention</c:v>
              </c:pt>
            </c:strLit>
          </c:cat>
          <c:val>
            <c:numLit>
              <c:formatCode>0.000</c:formatCode>
              <c:ptCount val="4"/>
              <c:pt idx="0">
                <c:v>0.340255</c:v>
              </c:pt>
              <c:pt idx="1">
                <c:v>0.346206</c:v>
              </c:pt>
              <c:pt idx="2">
                <c:v>0.353909</c:v>
              </c:pt>
              <c:pt idx="3">
                <c:v>0.35854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CBD2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Token-F1</c:v>
          </c:tx>
          <c:spPr>
            <a:solidFill xmlns:a="http://schemas.openxmlformats.org/drawingml/2006/main">
              <a:srgbClr val="1769E0"/>
            </a:solidFill>
          </c:spPr>
          <c:cat>
            <c:strLit>
              <c:ptCount val="4"/>
              <c:pt idx="0">
                <c:v>G0 no history</c:v>
              </c:pt>
              <c:pt idx="1">
                <c:v>G1 R4 whole</c:v>
              </c:pt>
              <c:pt idx="2">
                <c:v>G2 R5 facts</c:v>
              </c:pt>
              <c:pt idx="3">
                <c:v>G3 selective</c:v>
              </c:pt>
            </c:strLit>
          </c:cat>
          <c:val>
            <c:numLit>
              <c:formatCode>0.000</c:formatCode>
              <c:ptCount val="4"/>
              <c:pt idx="0">
                <c:v>0.14942</c:v>
              </c:pt>
              <c:pt idx="1">
                <c:v>0.20752</c:v>
              </c:pt>
              <c:pt idx="2">
                <c:v>0.20919</c:v>
              </c:pt>
              <c:pt idx="3">
                <c:v>0.20498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CBD2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input tokens</c:v>
          </c:tx>
          <c:spPr>
            <a:solidFill xmlns:a="http://schemas.openxmlformats.org/drawingml/2006/main">
              <a:srgbClr val="1769E0"/>
            </a:solidFill>
          </c:spPr>
          <c:cat>
            <c:strLit>
              <c:ptCount val="3"/>
              <c:pt idx="0">
                <c:v>Whole report</c:v>
              </c:pt>
              <c:pt idx="1">
                <c:v>Sentence only</c:v>
              </c:pt>
              <c:pt idx="2">
                <c:v>Case-to-fact</c:v>
              </c:pt>
            </c:strLit>
          </c:cat>
          <c:val>
            <c:numLit>
              <c:formatCode>0.000</c:formatCode>
              <c:ptCount val="3"/>
              <c:pt idx="0">
                <c:v>798.2</c:v>
              </c:pt>
              <c:pt idx="1">
                <c:v>666.1</c:v>
              </c:pt>
              <c:pt idx="2">
                <c:v>539.3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CBD2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Token-F1</c:v>
          </c:tx>
          <c:spPr>
            <a:solidFill xmlns:a="http://schemas.openxmlformats.org/drawingml/2006/main">
              <a:srgbClr val="42BCEB"/>
            </a:solidFill>
          </c:spPr>
          <c:cat>
            <c:strLit>
              <c:ptCount val="3"/>
              <c:pt idx="0">
                <c:v>Whole report</c:v>
              </c:pt>
              <c:pt idx="1">
                <c:v>Sentence only</c:v>
              </c:pt>
              <c:pt idx="2">
                <c:v>Case-to-fact</c:v>
              </c:pt>
            </c:strLit>
          </c:cat>
          <c:val>
            <c:numLit>
              <c:formatCode>0.000</c:formatCode>
              <c:ptCount val="3"/>
              <c:pt idx="0">
                <c:v>0.1312</c:v>
              </c:pt>
              <c:pt idx="1">
                <c:v>0.1451</c:v>
              </c:pt>
              <c:pt idx="2">
                <c:v>0.1531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6CBD2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A55BD-2F43-4AD5-84E3-12DDDBE6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E8032-EF20-479D-A385-89BEEF55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RETRIEVAL-AUGMENTED MEDICAL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QUESTION ANSWERING OVER PAIRED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RADIOLOGY IMAGES AND REPORTS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B87B5-608D-4EC4-93CB-DE1F09FA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3D937-68A5-43F6-A01C-C064667E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Final V10 Primary Study with V11 Development Extension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0066F-AB59-4710-B443-A5799DBA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ZHANG YUE  |  22097191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Master of Artificial Intelligence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University of Malaya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D6C15-3045-4618-8D51-884E43F7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73E4D"/>
                </a:solidFill>
              </a:defRPr>
            </a:pPr>
            <a:r>
              <a:rPr sz="1200" b="1">
                <a:solidFill>
                  <a:srgbClr val="C73E4D"/>
                </a:solidFill>
              </a:rPr>
              <a:t>Retrospective research prototype</a:t>
            </a:r>
          </a:p>
          <a:p xmlns:a="http://schemas.openxmlformats.org/drawingml/2006/main">
            <a:pPr algn="r">
              <a:defRPr sz="1200" b="1">
                <a:solidFill>
                  <a:srgbClr val="C73E4D"/>
                </a:solidFill>
              </a:defRPr>
            </a:pPr>
            <a:r>
              <a:rPr sz="1200" b="1">
                <a:solidFill>
                  <a:srgbClr val="C73E4D"/>
                </a:solidFill>
              </a:rPr>
              <a:t>Not clinically validated</a:t>
            </a:r>
          </a:p>
        </p:txBody>
      </p:sp>
    </p:spTree>
    <p:extLst>
      <p:ext uri="{BB962C8B-B14F-4D97-AF65-F5344CB8AC3E}">
        <p14:creationId xmlns:p14="http://schemas.microsoft.com/office/powerpoint/2010/main" val="701789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86BBC-A232-421E-98A6-5224A356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001FB-CA09-4DEE-ACD3-CABFEA4B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question is not ‘can a model read a report?’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3C63F-BCE7-4DEA-AE6D-5C0227F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06BC8-2F16-42FD-8359-6A458CA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At inference, the target report does not exist yet.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E93C3-2C8A-4BAC-BCBB-36500711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99A90-1E16-453B-88E8-F54525B9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662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Input: target chest image(s), clinical indication and a natural-language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59E27-101B-49E7-ADD5-5E4CFA18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2003E-8C16-4A97-B3B7-C0CA272F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662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Evidence: other-patient historical image-report pairs, never the hidden target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79234-840B-4656-B36E-A54287B9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372E1-63A2-4454-A159-E45C59E0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662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Output: a bounded target-image answer plus deterministic historical provenance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F159D-BD58-4436-A9EF-0C0B1081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048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7D5DD-E93C-4972-8B39-F3BCDC88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9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3E4D"/>
                </a:solidFill>
              </a:defRPr>
            </a:pPr>
            <a:r>
              <a:rPr sz="1350" b="1">
                <a:solidFill>
                  <a:srgbClr val="C73E4D"/>
                </a:solidFill>
              </a:rPr>
              <a:t>CORE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C83A4-54A9-43E3-95BC-86B17E18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23622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A fluent answer may be faithful to the wrong historical patient.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911C6-FBE1-4C2B-BF7E-DB54EE4F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67200"/>
            <a:ext cx="2362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Therefore retrieval alignment and provenance are first-class research targets.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52A09-80F2-43EB-943D-A720E5B1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43140-6E46-44D5-A7DD-CF020D7F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4454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74737-2969-4B21-BFF2-96C0D4E8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69BF1-EB56-4B44-940E-F1D243D7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Four questions define the completed evidence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9D473-3EB0-4281-9113-861B84FA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D6583-DA84-4470-A152-9705638D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368EB-2F24-45DB-9750-BF289699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38300"/>
            <a:ext cx="927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Does a correctly aligned target image improve report-derived similar-case retrieval?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6D62B-61E2-486E-96F0-E6329E35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6220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C8D51-8ED4-41F1-AEFD-A7B2757C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RQ2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A4BC6-6DDB-4D43-8C74-BF30BB70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05100"/>
            <a:ext cx="927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Does the gain disappear under shuffled-image controls?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DFC45-1882-4EFA-8078-689FD130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2900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ECDBB-ED5E-42DC-8B8E-08528FD3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RQ3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85F0A-2012-463D-B0CC-0C43849E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927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Does fact-aware multiview retrieval improve graded relevance?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757E2-6991-47AC-BE95-55990522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FFF15-3FEA-4D39-AC60-1A969F4D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RQ4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FA188-A7C8-4752-80ED-B0E780A1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38700"/>
            <a:ext cx="927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Does improved retrieval transfer to reference-consistent generation and evidence efficiency?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B4230-E827-41F8-AD01-6E94E42D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62600"/>
            <a:ext cx="927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6B003-C750-4EF7-84EA-FE67D2FD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115AE-AAD7-4C3E-89A4-53F60AD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542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23723-D27B-41D6-8151-D6303F6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5FBA7-3444-4EDA-842F-AE9011C6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Version boundaries prevent post-outcome retuning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D404E-A738-42C0-99D1-9CE342EF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0FF4D-0C97-48D7-A6A4-3768797C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857FA-1913-4CD4-B392-84E1C436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V10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D4742-78C1-46F1-A38E-EE9CF102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Final primary confirmatory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3E29A-507F-4316-B776-95F6DA7B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764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D650C-D6D4-45DA-A464-D2D23A73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66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2BCEB"/>
                </a:solidFill>
              </a:defRPr>
            </a:pPr>
            <a:r>
              <a:rPr sz="2850" b="1">
                <a:solidFill>
                  <a:srgbClr val="42BCEB"/>
                </a:solidFill>
              </a:rPr>
              <a:t>V11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7BA1B-14AE-410E-B071-EC04CC1E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Train/Validation development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85630-10C3-43FB-B07E-5789DC76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8CDF7-2A33-49E6-AD8D-10894B7D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669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64"/>
                </a:solidFill>
              </a:defRPr>
            </a:pPr>
            <a:r>
              <a:rPr sz="2850" b="1">
                <a:solidFill>
                  <a:srgbClr val="168A64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00DC6-164C-4D60-B05E-2F555A26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955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Fabricated physician or external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CE875-9EAC-4BAD-B676-89FF982B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04422-9FAB-4E29-BA9E-D2EF6569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V10 model, cohort, prompts, thresholds and outputs are frozen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1EC21-3AD3-44F0-AD0D-E6A90EB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D4856-0F68-4226-AA6F-4382EC6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V11 tests fact selection and planner robustness without changing V10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B9276-B550-4180-B8A6-281742D0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5F271-7DDA-4CDC-B7E7-FCEEE472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Independent radiologist review and authorized external validation remain Future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CB2C0-CD9D-4342-B6D5-55D807A8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A1AF2-4467-4289-A248-8B97F09B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5511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DDA42-A2DF-4953-BFEE-66E81402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71E53-57D8-4618-AE97-E30C16D6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workflow preserves case ownership end to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BC7BF-5861-4E5F-9ADE-BF81BC2D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CDFE9-B71B-4C7F-B8DB-F77FCB87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58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A39D5-E6A3-4378-B3D0-E4511AEE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AF78A-D98E-43B9-BF73-FBE08034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Target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image +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751B6-0ACE-4CEB-B6D9-B42F15CA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09875"/>
            <a:ext cx="30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69E0"/>
                </a:solidFill>
              </a:defRPr>
            </a:pPr>
            <a:r>
              <a:rPr sz="2325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19E21-C50B-4B42-A1C8-988E607F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90750"/>
            <a:ext cx="158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68FCD-125A-4B6D-B7C0-CB32D0EE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43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EE621-D762-4625-9D09-9DC319AB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0035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Retrieve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Top-100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8AA9B-0B15-47F2-A36A-6FBC85F6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9875"/>
            <a:ext cx="30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69E0"/>
                </a:solidFill>
              </a:defRPr>
            </a:pPr>
            <a:r>
              <a:rPr sz="2325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F847B-55C1-4608-AC68-C2DD03C5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58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3AE70-9789-456B-8EFF-AB4CD84E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8524B-071E-41F1-AEDB-668D4123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Fact-aware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D1160-99FB-4AA3-9A97-9E0F1AB0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09875"/>
            <a:ext cx="30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69E0"/>
                </a:solidFill>
              </a:defRPr>
            </a:pPr>
            <a:r>
              <a:rPr sz="2325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14AAE-DB7D-4DC0-A20E-0A10793D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90750"/>
            <a:ext cx="158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5F5BC-2F6E-4B98-B843-718A4E59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43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CF1A2-F50F-49A6-93A9-C1BC4036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Top-3 cases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select 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C02E5-17D6-431E-9ABD-36955486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30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69E0"/>
                </a:solidFill>
              </a:defRPr>
            </a:pPr>
            <a:r>
              <a:rPr sz="2325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8A11F-AE39-4DBF-BB24-D97AAB1E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158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71B1F-A0E2-40B5-93BF-52D73B82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5FEC3-01B4-4140-9A32-87DA9F9D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Generate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answer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15EE3-54C2-43AB-ADCE-6EF4421A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09875"/>
            <a:ext cx="30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69E0"/>
                </a:solidFill>
              </a:defRPr>
            </a:pPr>
            <a:r>
              <a:rPr sz="2325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B75E7-626C-4F14-A002-C51ACAE9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90750"/>
            <a:ext cx="1581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DAE1D-B0C4-422F-9DC4-30EE4560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343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0B8EA-7E40-4689-B08F-AF2D7F43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80035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Attach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provenance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D575E9-A8BD-4971-B496-029048D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Historical reports remain labeled analogies; the target report never enters inference.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3BD18-C924-423E-91CE-53FE18F5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A64"/>
                </a:solidFill>
              </a:defRPr>
            </a:pPr>
            <a:r>
              <a:rPr sz="1500" b="1">
                <a:solidFill>
                  <a:srgbClr val="168A64"/>
                </a:solidFill>
              </a:rPr>
              <a:t>Case ID → section → fact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AAD135-97FA-4DA9-89D4-5023D091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2E222-F6F4-4856-B4B8-F6D4E65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1561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77D20-7895-4C13-872C-FF42C6D3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69184-10C2-40C2-B6C1-FF03EAF3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Duplicate clustering precedes every V10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FC4FD-9906-406B-AC9B-29D30041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24A22-111C-49E4-9A8A-41A34DB4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EA0E7-5B4A-4A1F-B6A8-1D358561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3,851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68925-29C1-4049-B85F-6B619230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OpenI/IU-Xray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0F251-C397-4000-A7FD-137A9A51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4C2A1-EE69-45FF-82FE-C0DEC85C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2BCEB"/>
                </a:solidFill>
              </a:defRPr>
            </a:pPr>
            <a:r>
              <a:rPr sz="2850" b="1">
                <a:solidFill>
                  <a:srgbClr val="42BCEB"/>
                </a:solidFill>
              </a:rPr>
              <a:t>3,013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AA4EA-F885-4319-834B-FA23935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384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Exact/near-duplicate report clusters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F59C6-C9FF-479C-A76F-70951FB8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F8B10-E570-44CF-8644-A1BFA465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64"/>
                </a:solidFill>
              </a:defRPr>
            </a:pPr>
            <a:r>
              <a:rPr sz="2850" b="1">
                <a:solidFill>
                  <a:srgbClr val="168A64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75B3D-12BC-4EBD-85B3-F3FEF580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384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Cluster overlap across partitions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0F192-378A-41D2-86C4-A463F3DC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192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B616C-FCDF-4F39-8FC3-346C0D88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568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C8552-4DC3-49D5-9A35-B00AC6C8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Technically eligible Test cases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876300" y="3333750"/>
          <a:ext xmlns:a="http://schemas.openxmlformats.org/drawingml/2006/main" cx="10096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7df3b1c1904c39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95D89-017A-4E85-93E9-9226A8E4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05E5B-6D7F-49A6-BCB2-02B22CD4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7372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2AB46-4B64-4AE6-A1B9-3CA10122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8EC5C-87E2-4885-82AE-CF8F810C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Fact-aware multiview retrieval is the strongest V10 ranker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674CE-A1CE-48A5-9208-48545798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56210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2e94c05abd455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6924A-C582-4D32-A890-A2361609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7813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4FABE-9201-41D6-B54C-2B1E345A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64"/>
                </a:solidFill>
              </a:defRPr>
            </a:pPr>
            <a:r>
              <a:rPr sz="2850" b="1">
                <a:solidFill>
                  <a:srgbClr val="168A64"/>
                </a:solidFill>
              </a:rPr>
              <a:t>+0.01103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86F8C-0592-4FB5-B8FE-5E3CDCEC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24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R5 minus R4 nDCG@10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054C6-FE2F-496F-8F41-79109B1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95% CI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[+0.00770, +0.01441]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55E97-D596-473C-9190-D820A0C9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243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Small in magnitude, statistically resolved under case-grouped bootstrap.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A5715-01CA-49CC-A36F-FDAF1C5D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3D7FD-3838-4E18-BBDC-3BD66EAD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6377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B7379-10B4-453E-9299-19B52529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2DD98-86E1-48F4-A15E-639E2B9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retrieval gain depends on the correctly paired 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BE22D-1355-4F61-AD04-67A47BEE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952500" y="1695450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1f1201f31346d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7ADEF-7853-402B-B8A5-46A2BEF4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68A64"/>
                </a:solidFill>
              </a:defRPr>
            </a:pPr>
            <a:r>
              <a:rPr sz="3600" b="1">
                <a:solidFill>
                  <a:srgbClr val="168A64"/>
                </a:solidFill>
              </a:rPr>
              <a:t>0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850C2-E9AB-49AF-93F7-690E741D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shuffled assignments reached the aligned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A21C9-F3D0-47A3-B61F-11996FF2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E0"/>
                </a:solidFill>
              </a:defRPr>
            </a:pPr>
            <a:r>
              <a:rPr sz="1650" b="1">
                <a:solidFill>
                  <a:srgbClr val="1769E0"/>
                </a:solidFill>
              </a:rPr>
              <a:t>Plus-one Monte Carlo p = 0.00990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D216D-40D8-43F7-8FA2-47F9C12A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0100"/>
            <a:ext cx="346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This tests alignment specificity, not standalone diagnostic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9B5B2-2D21-4503-8C83-1143821C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A25AA-EF8D-452D-8DC0-347D739C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7870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023C2-AF1E-4142-9143-42BA44CA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54709-97C5-4F30-92EA-FD5C590C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Fact awareness helps more than the attention-view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4F00D-237E-4809-ACC4-3B4926E6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7334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2716c6e1e2474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93421-7A0F-4F3B-8757-3415B414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B674C-3A2B-4207-9DFE-8766E85B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64"/>
                </a:solidFill>
              </a:defRPr>
            </a:pPr>
            <a:r>
              <a:rPr sz="2850" b="1">
                <a:solidFill>
                  <a:srgbClr val="168A64"/>
                </a:solidFill>
              </a:rPr>
              <a:t>+0.01299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D2BEA-B82D-4C36-9BBF-CBFB2F29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Fact-aware main effect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E8E96-2D33-4D2E-81B2-00D4FE86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956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5C5B3-C136-4CC2-A81F-1E770197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861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+0.00529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4BEB6-4439-49BF-8AEA-735B84ED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Attention-view main effect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E48A6-1EA0-4B87-9A5A-F7303A5F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434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19BAF-2F43-4B6C-977E-5B00FC68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33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B6472"/>
                </a:solidFill>
              </a:defRPr>
            </a:pPr>
            <a:r>
              <a:rPr sz="2850" b="1">
                <a:solidFill>
                  <a:srgbClr val="5B6472"/>
                </a:solidFill>
              </a:rPr>
              <a:t>−0.00132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C2A82-4B36-4522-BE26-77E408D6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62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Interaction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D36F1-2BA5-4709-A53C-47D61E25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CBCD0-1540-4E45-8BF5-AC9E8BD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5990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7FB9A-706F-4B9C-9E04-76C55DF6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CDD45-6239-40FF-90A0-BB97B02E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Retrieved history improves answers; finer evidence adds little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8B8E6-64C4-4DB2-A7BB-FD79BD8E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143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bae558352644a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3C9CA-18FD-4739-8946-A555EC44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68A64"/>
                </a:solidFill>
              </a:defRPr>
            </a:pPr>
            <a:r>
              <a:rPr sz="3000" b="1">
                <a:solidFill>
                  <a:srgbClr val="168A64"/>
                </a:solidFill>
              </a:rPr>
              <a:t>+0.05978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D02A9-3BA5-48D2-A692-64B7FE5A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G2 minus G0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95% CI [+0.05114, +0.06860]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1F3FF-F4BA-4189-BEC3-0D3FCD1B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F02CE-5E71-47C5-A3E3-79367B9D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+0.00167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A2603-D995-40E5-818E-7A7F138C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G2 minus G1</a:t>
            </a:r>
          </a:p>
          <a:p xmlns:a="http://schemas.openxmlformats.org/drawingml/2006/main">
            <a:pPr algn="ctr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CI crosses zero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91A51-1030-49C4-B936-CADD3DF1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FD64E-83C4-4AAA-BC07-71108461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0227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64644-033E-453C-921D-60DE6405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A72F2-9DBB-4917-9A0A-BA495280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Fact selection improves efficiency, not proven answer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4CA2D-8AA5-42E5-8D01-E8449485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B00F8-4CEF-499A-B303-1F8094A8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D9640-0461-40D3-A26E-0EF06254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64"/>
                </a:solidFill>
              </a:defRPr>
            </a:pPr>
            <a:r>
              <a:rPr sz="2850" b="1">
                <a:solidFill>
                  <a:srgbClr val="168A64"/>
                </a:solidFill>
              </a:rPr>
              <a:t>59.99%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47D9B-098E-462C-B729-74E9FA72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Context-character reduction in the 384-case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C7725-EC18-4430-AFEA-D1D22670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D870E-E5E3-4703-8A12-A7A695CE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21520-B74C-40B1-877B-B91C8FCB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Case / section / fact provenance completeness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34BA6-BB34-40C3-A8C7-801B0146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6D29F-0C3C-4A3C-8F1A-8710B758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66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2BCEB"/>
                </a:solidFill>
              </a:defRPr>
            </a:pPr>
            <a:r>
              <a:rPr sz="2850" b="1">
                <a:solidFill>
                  <a:srgbClr val="42BCEB"/>
                </a:solidFill>
              </a:rPr>
              <a:t>432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08828-2962-45CC-A1AA-54C2FCA9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Clean V11 generations across 48 cases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62000" y="3543300"/>
          <a:ext xmlns:a="http://schemas.openxmlformats.org/drawingml/2006/main" cx="56197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eff09875284ee1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762750" y="3543300"/>
          <a:ext xmlns:a="http://schemas.openxmlformats.org/drawingml/2006/main" cx="46672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0e1efb1bb04e04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A6C68-2E2A-43AF-BEDE-D2939346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A0C08-C77D-485C-A393-688F09B0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31703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6E0BA-EC46-4C0C-A309-F38D029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0A3DF-CF2B-41E5-8F7B-487AB4DE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Retrieval confidence enables a bounded ‘no reliable history’ option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7B824-AA36-416D-9002-398CE0F2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9CC41-E693-44B0-986F-3BA994F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5DFCE-3701-4B48-8BF6-EBE6DE93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0.167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9A03B-C572-47DD-A65F-11FD608D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Brier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B52C9-7C52-40DC-A730-75E6BF87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526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E2CB3-E883-4BDB-A45E-1EA19CC5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431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2BCEB"/>
                </a:solidFill>
              </a:defRPr>
            </a:pPr>
            <a:r>
              <a:rPr sz="2850" b="1">
                <a:solidFill>
                  <a:srgbClr val="42BCEB"/>
                </a:solidFill>
              </a:rPr>
              <a:t>0.046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E1872-3C50-4A7D-977B-4B9074F1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Expected calibration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01FDC-6877-47A7-8272-D17339C2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32237-BE37-4D3B-8056-D00B9A4D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64"/>
                </a:solidFill>
              </a:defRPr>
            </a:pPr>
            <a:r>
              <a:rPr sz="2850" b="1">
                <a:solidFill>
                  <a:srgbClr val="168A64"/>
                </a:solidFill>
              </a:rPr>
              <a:t>0.705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36BE1-456C-45C2-8ABA-8EDBC7D2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AUROC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5F784-0CF6-4305-9645-522AD32B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908D3-5360-44C8-B2A1-984D40B1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81.51%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2E484-4811-46B4-A856-DC0236D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Observed answer coverage at frozen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7B874-89A4-4E91-81D8-133F4FC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553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8FD19-CE6E-4B4B-BF01-F4AB20E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3E4D"/>
                </a:solidFill>
              </a:defRPr>
            </a:pPr>
            <a:r>
              <a:rPr sz="1275" b="1">
                <a:solidFill>
                  <a:srgbClr val="C73E4D"/>
                </a:solidFill>
              </a:rPr>
              <a:t>LOW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1402F-F5F6-4FF9-BF3F-164735AA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48100"/>
            <a:ext cx="7962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Historical candidates remain visible for audit, but the system does not attach them as claimed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58FC5-A530-4CA5-930E-754A4481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14850"/>
            <a:ext cx="796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This is a report-derived retrieval research signal, not diagnostic confidence.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07FA2-176E-4312-835C-0591CC58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EB5C5-A83C-467E-BE96-7E8F23D6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313542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66328-09F6-45C9-98A4-F382C877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0E816-62D0-49A8-B31C-7B81A57F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V11 adds robustness evidence without changing V10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052B3-D0E8-4FF4-BC8A-C3316887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CE0C1-1303-4354-87C4-122972FD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303B1-6789-4B32-B7CE-50222F1D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FF486-DECA-4635-8561-C8350399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Reserved planner wording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4B700-14C8-43A8-A365-DE9E1A62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FF1E2-D086-40E0-9712-53E2DC0D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050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64"/>
                </a:solidFill>
              </a:defRPr>
            </a:pPr>
            <a:r>
              <a:rPr sz="2850" b="1">
                <a:solidFill>
                  <a:srgbClr val="168A64"/>
                </a:solidFill>
              </a:rPr>
              <a:t>0.9167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F8E0D-7C76-4414-A34C-88914971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336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Planner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C721A-1447-4E70-837C-89D59F7F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FA7CC-B7FB-4BE8-94B0-F0363355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050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2BCEB"/>
                </a:solidFill>
              </a:defRPr>
            </a:pPr>
            <a:r>
              <a:rPr sz="2850" b="1">
                <a:solidFill>
                  <a:srgbClr val="42BCEB"/>
                </a:solidFill>
              </a:rPr>
              <a:t>0.9196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25C59-11EF-47ED-B170-60ECFBBA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Planner macro-F1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16D1A-A3B2-4ECC-8151-73A16B9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3A39F-12E5-4429-8DF8-8D424B1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69E0"/>
                </a:solidFill>
              </a:defRPr>
            </a:pPr>
            <a:r>
              <a:rPr sz="2850" b="1">
                <a:solidFill>
                  <a:srgbClr val="1769E0"/>
                </a:solidFill>
              </a:rPr>
              <a:t>1.000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67A92-1768-429F-8B6B-9E7CE18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Indication invariance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44ACE-14B1-4640-B5DC-1325C5F8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E636A-6940-4DC2-9D34-08FE055E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Balanced across eight author-defined intents; zero wording overlap with the original 64 examples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F3BFE-AB9F-403C-96A3-DA62C8B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04576-2731-4457-8675-3C8877DB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Case-to-fact minus whole-report Token-F1 CI crosses zero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8B105-E434-4397-9B4B-4A002CD9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C3219-49F3-450B-BCB1-6C698F1F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Conclusion: stronger efficiency and auditability, not confirmed generation superiority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3EEAD-E814-419B-A13D-93A2B7ED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AB836-AF1B-4465-8544-AD188711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9047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0D157-B4D2-4FB9-A971-4850F003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9BBE6-0C95-493A-84F5-F85761F2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strongest remaining gaps require new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469EA-6210-450D-BB38-C81C12CE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2E4DF-CC84-4C59-9CD3-A50EEAEB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014EB-7E4C-41E3-8AA7-8E97C8C8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3E4D"/>
                </a:solidFill>
              </a:defRPr>
            </a:pPr>
            <a:r>
              <a:rPr sz="1350" b="1">
                <a:solidFill>
                  <a:srgbClr val="C73E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6992A-41E3-4F33-BD0C-B6497B17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Independent clinical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21749-8DCE-46CD-A1A3-2B03CF54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Radiologist ratings of case similarity, answer consistency, usefulness and potential harm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E4F59-B6D0-4119-A1C7-2A080EC6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0209B-FACE-47FB-A02F-3D1937DA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38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E0"/>
                </a:solidFill>
              </a:defRPr>
            </a:pPr>
            <a:r>
              <a:rPr sz="1350" b="1">
                <a:solidFill>
                  <a:srgbClr val="1769E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67250-A985-4A66-8CFA-4D210B87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0985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External patient-level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B1BB0-1F28-4B94-8FAE-A5FFEA6A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0045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Authorized MIMIC-CXR subset with reliable subject/study separation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97877-1732-437D-BD60-7C7597D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94CA9-13FA-4DEA-BBB3-065B7341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E0"/>
                </a:solidFill>
              </a:defRPr>
            </a:pPr>
            <a:r>
              <a:rPr sz="1350" b="1">
                <a:solidFill>
                  <a:srgbClr val="1769E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A0B95-FF70-421C-AB83-F475ABB3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Clinically calibrated abstention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644FB-868A-4823-8316-3466CB0D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0045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Human labels for similarity, correctness and risk-coverage trade-offs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DEDDA-046B-43D4-AF56-7B5198E5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8A64"/>
                </a:solidFill>
              </a:defRPr>
            </a:pPr>
            <a:r>
              <a:rPr sz="1950" b="1">
                <a:solidFill>
                  <a:srgbClr val="168A64"/>
                </a:solidFill>
              </a:rPr>
              <a:t>No physician or external result is fabricated in the completed study.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8AF49-3F71-4FB9-9604-647AA59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67256-74DF-4536-AC47-B055B675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685240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72178-DF5B-4732-93B8-3606511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</a:defRPr>
            </a:pPr>
            <a:r>
              <a:rPr sz="1050" b="1">
                <a:solidFill>
                  <a:srgbClr val="5B6472"/>
                </a:solidFill>
              </a:rPr>
              <a:t>FINAL RESEARCH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99B49-2619-4BCE-B921-7291FB53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system is complete; its clinical claims remain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792B7-226D-4AF8-BECB-C94998B4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5F097-ED90-4570-B816-9A517A05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69E0"/>
                </a:solidFill>
              </a:defRPr>
            </a:pPr>
            <a:r>
              <a:rPr sz="3300" b="1">
                <a:solidFill>
                  <a:srgbClr val="1769E0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C363D-0A62-4856-A578-8D3BD64B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097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Correct images provide alignment-specific retrieval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D04EA-C9B1-4138-A574-B91FD51A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69E0"/>
                </a:solidFill>
              </a:defRPr>
            </a:pPr>
            <a:r>
              <a:rPr sz="3300" b="1">
                <a:solidFill>
                  <a:srgbClr val="1769E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DB514-BB81-4A2B-94B7-8E290654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Fact-aware reranking adds a small, confirmed ranking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44FBE-AF77-4ABA-B548-034FAEA9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69E0"/>
                </a:solidFill>
              </a:defRPr>
            </a:pPr>
            <a:r>
              <a:rPr sz="3300" b="1">
                <a:solidFill>
                  <a:srgbClr val="1769E0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BD86A-786E-49F3-BD42-A502C299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290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Historical retrieval improves reference-consistent QA; finer evidence mainly improves efficiency and provenance.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CB4E3-3A33-4AD7-9374-B1FB666E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31E92-CCE3-440A-B185-A79744CA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3E4D"/>
                </a:solidFill>
              </a:defRPr>
            </a:pPr>
            <a:r>
              <a:rPr sz="1875" b="1">
                <a:solidFill>
                  <a:srgbClr val="C73E4D"/>
                </a:solidFill>
              </a:rPr>
              <a:t>The system supports research and audit, not autonomous diagnosis.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78B2F-0011-44AF-BF70-537EE38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22097191 | ZHANG YUE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AD494-7AFD-467D-A0CF-ED363759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59506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2026-08-26T03:43:22.5780000Z</dcterms:created>
  <dcterms:modified xsi:type="dcterms:W3CDTF">2026-08-26T03:43:22.5780000Z</dcterms:modified>
</coreProperties>
</file>