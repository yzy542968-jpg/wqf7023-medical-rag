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848e2645e64c8f" /><Relationship Type="http://schemas.openxmlformats.org/officeDocument/2006/relationships/extended-properties" Target="/docProps/app.xml" Id="R0670e4ed065042fa" /><Relationship Type="http://schemas.openxmlformats.org/officeDocument/2006/relationships/officeDocument" Target="/ppt/presentation.xml" Id="R14eb6ec69091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7cf1610ac4792"/>
  </p:sldMasterIdLst>
  <p:notesMasterIdLst>
    <p:notesMasterId xmlns:r="http://schemas.openxmlformats.org/officeDocument/2006/relationships" r:id="R1454770e3a1e44cc"/>
  </p:notesMasterIdLst>
  <p:sldIdLst>
    <p:sldId xmlns:r="http://schemas.openxmlformats.org/officeDocument/2006/relationships" id="256" r:id="Ref4085d72fa54a0e"/>
    <p:sldId xmlns:r="http://schemas.openxmlformats.org/officeDocument/2006/relationships" id="257" r:id="R5a88ab62495d431d"/>
    <p:sldId xmlns:r="http://schemas.openxmlformats.org/officeDocument/2006/relationships" id="258" r:id="R9c428d4999994e14"/>
    <p:sldId xmlns:r="http://schemas.openxmlformats.org/officeDocument/2006/relationships" id="259" r:id="Rd00c469e636e4522"/>
    <p:sldId xmlns:r="http://schemas.openxmlformats.org/officeDocument/2006/relationships" id="260" r:id="R8459ace829df4a3b"/>
    <p:sldId xmlns:r="http://schemas.openxmlformats.org/officeDocument/2006/relationships" id="261" r:id="Rc9d6ebb3d8ad4248"/>
    <p:sldId xmlns:r="http://schemas.openxmlformats.org/officeDocument/2006/relationships" id="262" r:id="Rc0c2bff7b25e4282"/>
    <p:sldId xmlns:r="http://schemas.openxmlformats.org/officeDocument/2006/relationships" id="263" r:id="Ra0371c4003614ccb"/>
    <p:sldId xmlns:r="http://schemas.openxmlformats.org/officeDocument/2006/relationships" id="264" r:id="R03c7891c94054edf"/>
    <p:sldId xmlns:r="http://schemas.openxmlformats.org/officeDocument/2006/relationships" id="265" r:id="R9a6b4127503649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cc780736a4d06" /><Relationship Type="http://schemas.openxmlformats.org/officeDocument/2006/relationships/slideMaster" Target="/ppt/slideMasters/slideMaster1.xml" Id="R0b07cf1610ac4792" /><Relationship Type="http://schemas.openxmlformats.org/officeDocument/2006/relationships/notesMaster" Target="/ppt/notesMasters/notesMaster1.xml" Id="R1454770e3a1e44cc" /><Relationship Type="http://schemas.openxmlformats.org/officeDocument/2006/relationships/presProps" Target="/ppt/presProps.xml" Id="R28a7ea10efc14968" /><Relationship Type="http://schemas.openxmlformats.org/officeDocument/2006/relationships/viewProps" Target="/ppt/viewProps.xml" Id="Rd7eeaef573214c08" /><Relationship Type="http://schemas.openxmlformats.org/officeDocument/2006/relationships/tableStyles" Target="/ppt/tableStyles.xml" Id="Rbd20d6862db249ea" /><Relationship Type="http://schemas.openxmlformats.org/officeDocument/2006/relationships/slide" Target="/ppt/slides/slide1.xml" Id="Ref4085d72fa54a0e" /><Relationship Type="http://schemas.openxmlformats.org/officeDocument/2006/relationships/slide" Target="/ppt/slides/slide2.xml" Id="R5a88ab62495d431d" /><Relationship Type="http://schemas.openxmlformats.org/officeDocument/2006/relationships/slide" Target="/ppt/slides/slide3.xml" Id="R9c428d4999994e14" /><Relationship Type="http://schemas.openxmlformats.org/officeDocument/2006/relationships/slide" Target="/ppt/slides/slide4.xml" Id="Rd00c469e636e4522" /><Relationship Type="http://schemas.openxmlformats.org/officeDocument/2006/relationships/slide" Target="/ppt/slides/slide5.xml" Id="R8459ace829df4a3b" /><Relationship Type="http://schemas.openxmlformats.org/officeDocument/2006/relationships/slide" Target="/ppt/slides/slide6.xml" Id="Rc9d6ebb3d8ad4248" /><Relationship Type="http://schemas.openxmlformats.org/officeDocument/2006/relationships/slide" Target="/ppt/slides/slide7.xml" Id="Rc0c2bff7b25e4282" /><Relationship Type="http://schemas.openxmlformats.org/officeDocument/2006/relationships/slide" Target="/ppt/slides/slide8.xml" Id="Ra0371c4003614ccb" /><Relationship Type="http://schemas.openxmlformats.org/officeDocument/2006/relationships/slide" Target="/ppt/slides/slide9.xml" Id="R03c7891c94054edf" /><Relationship Type="http://schemas.openxmlformats.org/officeDocument/2006/relationships/slide" Target="/ppt/slides/slide10.xml" Id="R9a6b41275036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f32f9e8ed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5dec03fa44fbd" /><Relationship Type="http://schemas.openxmlformats.org/officeDocument/2006/relationships/notesMaster" Target="/ppt/notesMasters/notesMaster1.xml" Id="Rb9b9583dccc244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8638e7fb44a27" /><Relationship Type="http://schemas.openxmlformats.org/officeDocument/2006/relationships/notesMaster" Target="/ppt/notesMasters/notesMaster1.xml" Id="R63973ad37f174a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02c9d55774aa4" /><Relationship Type="http://schemas.openxmlformats.org/officeDocument/2006/relationships/notesMaster" Target="/ppt/notesMasters/notesMaster1.xml" Id="R552302417de340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818f3ab8f94804" /><Relationship Type="http://schemas.openxmlformats.org/officeDocument/2006/relationships/notesMaster" Target="/ppt/notesMasters/notesMaster1.xml" Id="R0a59b4cc921b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9a2b03de842f5" /><Relationship Type="http://schemas.openxmlformats.org/officeDocument/2006/relationships/notesMaster" Target="/ppt/notesMasters/notesMaster1.xml" Id="R3c19f879e50545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56863fb0504a0e" /><Relationship Type="http://schemas.openxmlformats.org/officeDocument/2006/relationships/notesMaster" Target="/ppt/notesMasters/notesMaster1.xml" Id="R42b787c8f494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9d86274094608" /><Relationship Type="http://schemas.openxmlformats.org/officeDocument/2006/relationships/notesMaster" Target="/ppt/notesMasters/notesMaster1.xml" Id="R8ae2a1357c014f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af30964ce4cad" /><Relationship Type="http://schemas.openxmlformats.org/officeDocument/2006/relationships/notesMaster" Target="/ppt/notesMasters/notesMaster1.xml" Id="Rcb9c9149238346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a4f97bfc4b4461" /><Relationship Type="http://schemas.openxmlformats.org/officeDocument/2006/relationships/notesMaster" Target="/ppt/notesMasters/notesMaster1.xml" Id="R3fc7a24c7042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cd2e80a71644a2" /><Relationship Type="http://schemas.openxmlformats.org/officeDocument/2006/relationships/notesMaster" Target="/ppt/notesMasters/notesMaster1.xml" Id="Rfbc60b724533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95e57ba2f43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70734f60d4eed" /><Relationship Type="http://schemas.openxmlformats.org/officeDocument/2006/relationships/slideLayout" Target="/ppt/slideLayouts/slideLayout1.xml" Id="R23c1759f7086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1759f7086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21227c42d4ea6" /><Relationship Type="http://schemas.openxmlformats.org/officeDocument/2006/relationships/notesSlide" Target="/ppt/notesSlides/notesSlide1.xml" Id="R13d10f0dcd9c4e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679e8e538454a" /><Relationship Type="http://schemas.openxmlformats.org/officeDocument/2006/relationships/notesSlide" Target="/ppt/notesSlides/notesSlide2.xml" Id="R5e92898f9fe5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fa310197348f3" /><Relationship Type="http://schemas.openxmlformats.org/officeDocument/2006/relationships/notesSlide" Target="/ppt/notesSlides/notesSlide3.xml" Id="R6381d2de8d2c4a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7e1eed34846be" /><Relationship Type="http://schemas.openxmlformats.org/officeDocument/2006/relationships/notesSlide" Target="/ppt/notesSlides/notesSlide4.xml" Id="R9cc6035553804b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83454d6ee45e5" /><Relationship Type="http://schemas.openxmlformats.org/officeDocument/2006/relationships/notesSlide" Target="/ppt/notesSlides/notesSlide5.xml" Id="Rb74230ad6d7645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69aa87ff34a76" /><Relationship Type="http://schemas.openxmlformats.org/officeDocument/2006/relationships/notesSlide" Target="/ppt/notesSlides/notesSlide6.xml" Id="R100f4fdc2e454c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bb04946914d24" /><Relationship Type="http://schemas.openxmlformats.org/officeDocument/2006/relationships/notesSlide" Target="/ppt/notesSlides/notesSlide7.xml" Id="R0e31472933e9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faa4bc2074f77" /><Relationship Type="http://schemas.openxmlformats.org/officeDocument/2006/relationships/notesSlide" Target="/ppt/notesSlides/notesSlide8.xml" Id="R014883d550c7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5e6b3461433b" /><Relationship Type="http://schemas.openxmlformats.org/officeDocument/2006/relationships/notesSlide" Target="/ppt/notesSlides/notesSlide9.xml" Id="R4b5774a98b6d49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61aa2bfe94090" /><Relationship Type="http://schemas.openxmlformats.org/officeDocument/2006/relationships/notesSlide" Target="/ppt/notesSlides/notesSlide10.xml" Id="Rd38ccf7836b1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831DA-0DB2-4786-B315-28E9DAB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BB589-9DC9-4FB2-825E-C400DFD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5B224-183E-47F7-ADF1-5E205F49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WQF7023 MAI RESEARCH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E2A3B-AE64-48A7-9AE0-4D1D8D8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2242B"/>
                </a:solidFill>
              </a:defRPr>
            </a:pPr>
            <a:r>
              <a:rPr sz="3150" b="1">
                <a:solidFill>
                  <a:srgbClr val="12242B"/>
                </a:solidFill>
              </a:rPr>
              <a:t>Evidence-Checking Agentic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2559-41CB-4A6B-8411-DB75EBE4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243940"/>
                </a:solidFill>
              </a:defRPr>
            </a:pPr>
            <a:r>
              <a:rPr sz="1950" b="0">
                <a:solidFill>
                  <a:srgbClr val="243940"/>
                </a:solidFill>
              </a:rPr>
              <a:t>Radiology report-grounded question answering with linked X-ray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17E5B-1761-42FB-AF95-52092EC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6767A"/>
                </a:solidFill>
              </a:defRPr>
            </a:pPr>
            <a:r>
              <a:rPr sz="1500" b="0">
                <a:solidFill>
                  <a:srgbClr val="66767A"/>
                </a:solidFill>
              </a:rPr>
              <a:t>Thesis idea: preserve complete radiology case context, then check generated answers against selected report evidence before presenting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AF139-07DC-4831-AA32-46131DE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2870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8490C-707A-4635-83A9-6F90D33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287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7CA2F-5953-4B40-B90B-5927DBCC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00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3,851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395C2-1493-4271-8611-40E753C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OpenI radiology reports normalized into case units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703C-02B4-478C-8747-EF53855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98493-3B19-4585-926E-F69D48E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2322A-7CDF-4421-9835-86BD2B35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7,466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8A929-6FF4-4914-86A7-B6FE4057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linked image projection mappings retained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5E0FC-1B6F-4CBF-99A9-B1FA2B6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4DA0A-6805-493C-8492-2039A5D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18C46-4151-4C45-8A0D-ECF8C2BF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0.600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5AA4F-0BF1-4A5B-B3BB-16540E01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386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pilot retrieved hit rate, hybrid top-1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74FDC-67C3-432A-A1EC-E164AD0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2242B"/>
                </a:solidFill>
              </a:defRPr>
            </a:pPr>
            <a:r>
              <a:rPr sz="1200" b="0">
                <a:solidFill>
                  <a:srgbClr val="12242B"/>
                </a:solidFill>
              </a:rPr>
              <a:t>ZHANG YUE | 22097191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2242B"/>
                </a:solidFill>
              </a:defRPr>
            </a:pPr>
            <a:r>
              <a:rPr sz="1200" b="0">
                <a:solidFill>
                  <a:srgbClr val="12242B"/>
                </a:solidFill>
              </a:rPr>
              <a:t>Supervisor: Dr. Uzair Ishtiaq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E4F8F-A1B0-4B96-A952-3E384E8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B1547-650D-42A2-9D14-57371E7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P1 proposal deck | Evidence-grounded medical QA, not autonomous diagnosis</a:t>
            </a:r>
          </a:p>
        </p:txBody>
      </p:sp>
    </p:spTree>
    <p:extLst>
      <p:ext uri="{BB962C8B-B14F-4D97-AF65-F5344CB8AC3E}">
        <p14:creationId xmlns:p14="http://schemas.microsoft.com/office/powerpoint/2010/main" val="2119304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D43F4-1D6A-4317-819C-B26CF511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5EE75-AC7B-4679-9E17-F12EF9D8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698F-10BD-4466-8A55-24694DE0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0D554-2179-405A-BC54-08E248A0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Medical QA needs grounding because fluent answers can still be unsupported.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552C0-DD19-44B7-8954-CC288BDE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5EB78-596F-4587-ADA9-42D150F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41CFB-AFB9-4011-9BE6-599B94C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11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User asks a medical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59E7-5A8F-49EB-89DF-652EB8A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661F2-AAD4-472E-82DA-31AA6C1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336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7042C-5074-4A08-9AA2-280E18E8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3702-FA8D-4D2D-8550-D7DAF2D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0FFD-AF11-4850-B943-FC558AB6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211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LLM answers confidently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0E721-FDD7-4CEA-997F-0DDBC7D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DE1A-1396-41C5-9E90-15B918AA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5CDEC-04C7-463D-B978-FFF13C5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D5BE7-27FE-4D40-AC6C-979240DF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B028B-62C0-4731-8565-4EC1741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11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Unsupported claim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6B6B5-1FDA-47AB-8899-4444450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52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940C0-F92A-477F-B4C8-9CB96CB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 healthcare-oriented QA, the answer must be traceable to evidence, not merely plausible.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40661-9B61-4D15-A72D-D360EC3A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CFE5DF"/>
                </a:solidFill>
              </a:defRPr>
            </a:pPr>
            <a:r>
              <a:rPr sz="1200" b="0">
                <a:solidFill>
                  <a:srgbClr val="CFE5DF"/>
                </a:solidFill>
              </a:rPr>
              <a:t>This project grounds answers in expert-written radiology reports and keeps linked X-ray case metadata for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B5A9C-B784-48BC-B97F-B160C59B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4F633-8DCE-4D45-8CB3-244570F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Local OpenI/IU X-Ray project experiments</a:t>
            </a:r>
          </a:p>
        </p:txBody>
      </p:sp>
    </p:spTree>
    <p:extLst>
      <p:ext uri="{BB962C8B-B14F-4D97-AF65-F5344CB8AC3E}">
        <p14:creationId xmlns:p14="http://schemas.microsoft.com/office/powerpoint/2010/main" val="1696108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3A7BC-5C33-454D-A4A7-7462B1E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928D1-87FA-4369-B221-EF6D0937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F95C1-CCB6-40C6-8FFD-29767EE0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33203-743F-4215-BE99-8A604BFC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Basic RAG can retrieve evidence but still mix the wrong case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E975E-C0C9-4C48-9A1F-25E391B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66767A"/>
                </a:solidFill>
              </a:defRPr>
            </a:pPr>
            <a:r>
              <a:rPr sz="900" b="1">
                <a:solidFill>
                  <a:srgbClr val="66767A"/>
                </a:solidFill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8920B-3DE4-48A6-846D-D97D8F1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66767A"/>
                </a:solidFill>
              </a:defRPr>
            </a:pPr>
            <a:r>
              <a:rPr sz="900" b="1">
                <a:solidFill>
                  <a:srgbClr val="66767A"/>
                </a:solidFill>
              </a:rPr>
              <a:t>What it preserves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F18A7-8636-4551-8E29-9BEB6FD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66767A"/>
                </a:solidFill>
              </a:defRPr>
            </a:pPr>
            <a:r>
              <a:rPr sz="900" b="1">
                <a:solidFill>
                  <a:srgbClr val="66767A"/>
                </a:solidFill>
              </a:rPr>
              <a:t>Remaining failure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7DFE0-504F-4264-A0D8-BC49D144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D4EC4-8024-4D8A-8AE6-1CB6D74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AA182-1BAE-4D85-914D-3697E737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2242B"/>
                </a:solidFill>
              </a:defRPr>
            </a:pPr>
            <a:r>
              <a:rPr sz="1275" b="1">
                <a:solidFill>
                  <a:srgbClr val="12242B"/>
                </a:solidFill>
              </a:rPr>
              <a:t>Report chunk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1AC1-2ED1-43E6-9BD4-38822D5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Report text fragments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06BF7-C6ED-4BB5-9BFB-F279BF12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May lose full case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DB6F7-7283-4349-B19F-4A743F24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7C3DF-BC1A-4FFF-829F-72AFC343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AB7D9-2E04-4744-8DA4-C9A7B685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2242B"/>
                </a:solidFill>
              </a:defRPr>
            </a:pPr>
            <a:r>
              <a:rPr sz="1275" b="1">
                <a:solidFill>
                  <a:srgbClr val="12242B"/>
                </a:solidFill>
              </a:rPr>
              <a:t>Top-k case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BC41B-1693-42C9-8067-4143F9F5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Several complete image-report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26A7-76B4-458A-B47F-3FA23F2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Generator may combine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50A95-A383-46EF-AC1E-BA5E02A7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9E27B-5E49-4CAB-8BF1-646A23F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40F46-E1C6-4550-A503-7CCBB70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2242B"/>
                </a:solidFill>
              </a:defRPr>
            </a:pPr>
            <a:r>
              <a:rPr sz="1275" b="1">
                <a:solidFill>
                  <a:srgbClr val="12242B"/>
                </a:solidFill>
              </a:rPr>
              <a:t>Top-1 case + checker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3F2F2-D667-45C5-ABCE-3629ACE4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Selected case plus linked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AA695-3089-4C21-863C-8EA27006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Can revise or abstain when support fails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ED2F4-77E4-4E38-978B-7A9C24D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C7C78"/>
                </a:solidFill>
              </a:defRPr>
            </a:pPr>
            <a:r>
              <a:rPr sz="1575" b="1">
                <a:solidFill>
                  <a:srgbClr val="0C7C78"/>
                </a:solidFill>
              </a:rPr>
              <a:t>Research contribution: make case boundaries explicit, then evaluate whether answer claims stay inside the selected case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95B70-1D7C-4C65-9A0F-441997CA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0F116-FF8F-4A40-87E1-486F145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Local OpenI/IU X-Ray project experiments</a:t>
            </a:r>
          </a:p>
        </p:txBody>
      </p:sp>
    </p:spTree>
    <p:extLst>
      <p:ext uri="{BB962C8B-B14F-4D97-AF65-F5344CB8AC3E}">
        <p14:creationId xmlns:p14="http://schemas.microsoft.com/office/powerpoint/2010/main" val="883959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5C1E6-5E5F-430E-9CCF-A18A23B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E33D-BC7B-4CE6-B740-7D16D10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0FFC7-13D9-4FE4-8F85-59BB2A0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34B76-F4A9-4DC5-942E-515EE3B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The study tests retrieval, grounding, contamination control, and case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A7DE8-DDD6-46D5-B765-BAE040A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5CC9B-F3A7-4F46-86F8-3BC935E1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4B6F8C"/>
                </a:solidFill>
              </a:defRPr>
            </a:pPr>
            <a:r>
              <a:rPr sz="1050" b="1">
                <a:solidFill>
                  <a:srgbClr val="4B6F8C"/>
                </a:solidFill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D5DD-A990-4441-BAE7-CC60960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2242B"/>
                </a:solidFill>
              </a:defRPr>
            </a:pPr>
            <a:r>
              <a:rPr sz="1425" b="1">
                <a:solidFill>
                  <a:srgbClr val="12242B"/>
                </a:solidFill>
              </a:rPr>
              <a:t>Retrieval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E4C9-4C64-42CC-930C-5165148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67A"/>
                </a:solidFill>
              </a:defRPr>
            </a:pPr>
            <a:r>
              <a:rPr sz="1125" b="0">
                <a:solidFill>
                  <a:srgbClr val="66767A"/>
                </a:solidFill>
              </a:rPr>
              <a:t>Does retrieval improve medical QA over LLM-only answering?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9216-E68B-4F22-BF65-39A1B812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F7886-34F6-4BE2-ACC0-C2678A1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0C7C78"/>
                </a:solidFill>
              </a:defRPr>
            </a:pPr>
            <a:r>
              <a:rPr sz="1050" b="1">
                <a:solidFill>
                  <a:srgbClr val="0C7C78"/>
                </a:solidFill>
              </a:rPr>
              <a:t>RQ2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1D5B3-028B-477C-9E5E-E7A278DA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2242B"/>
                </a:solidFill>
              </a:defRPr>
            </a:pPr>
            <a:r>
              <a:rPr sz="1425" b="1">
                <a:solidFill>
                  <a:srgbClr val="12242B"/>
                </a:solidFill>
              </a:rPr>
              <a:t>Hybrid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14FCB-09A7-48FF-8892-358DD162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89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67A"/>
                </a:solidFill>
              </a:defRPr>
            </a:pPr>
            <a:r>
              <a:rPr sz="1125" b="0">
                <a:solidFill>
                  <a:srgbClr val="66767A"/>
                </a:solidFill>
              </a:rPr>
              <a:t>Does BM25 + MedCPT improve case retrieval over either method alone?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9A5C5-B5FE-4287-A2F3-1288F37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D6276-F601-4388-9D0E-BE34BDB0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3A8D5D"/>
                </a:solidFill>
              </a:defRPr>
            </a:pPr>
            <a:r>
              <a:rPr sz="1050" b="1">
                <a:solidFill>
                  <a:srgbClr val="3A8D5D"/>
                </a:solidFill>
              </a:rPr>
              <a:t>RQ3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3AA63-0030-4BD1-81B1-275C1F1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2242B"/>
                </a:solidFill>
              </a:defRPr>
            </a:pPr>
            <a:r>
              <a:rPr sz="1425" b="1">
                <a:solidFill>
                  <a:srgbClr val="12242B"/>
                </a:solidFill>
              </a:rPr>
              <a:t>Evidence checking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1187A-7780-4EC4-860E-4D17AF64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86275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67A"/>
                </a:solidFill>
              </a:defRPr>
            </a:pPr>
            <a:r>
              <a:rPr sz="1125" b="0">
                <a:solidFill>
                  <a:srgbClr val="66767A"/>
                </a:solidFill>
              </a:rPr>
              <a:t>Can the agent detect unsupported or cross-case claims?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7E444-15D3-4FA3-85AD-0F39D77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D6BD4-F6C4-4063-BB24-93D8899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D2644A"/>
                </a:solidFill>
              </a:defRPr>
            </a:pPr>
            <a:r>
              <a:rPr sz="1050" b="1">
                <a:solidFill>
                  <a:srgbClr val="D2644A"/>
                </a:solidFill>
              </a:rPr>
              <a:t>RQ4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17499-A95A-4480-A987-C053333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29075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2242B"/>
                </a:solidFill>
              </a:defRPr>
            </a:pPr>
            <a:r>
              <a:rPr sz="1425" b="1">
                <a:solidFill>
                  <a:srgbClr val="12242B"/>
                </a:solidFill>
              </a:rPr>
              <a:t>Case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D92E9-F560-4806-A5C1-58C8F65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86275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6767A"/>
                </a:solidFill>
              </a:defRPr>
            </a:pPr>
            <a:r>
              <a:rPr sz="1125" b="0">
                <a:solidFill>
                  <a:srgbClr val="66767A"/>
                </a:solidFill>
              </a:rPr>
              <a:t>Do linked image-report cases improve communication without claiming raw-image diagnosis?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5CA7D-2181-4BA4-8AB2-F25FF31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C4E03-9C6B-48B7-B707-AE4A1A01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Local OpenI/IU X-Ray project experiments</a:t>
            </a:r>
          </a:p>
        </p:txBody>
      </p:sp>
    </p:spTree>
    <p:extLst>
      <p:ext uri="{BB962C8B-B14F-4D97-AF65-F5344CB8AC3E}">
        <p14:creationId xmlns:p14="http://schemas.microsoft.com/office/powerpoint/2010/main" val="1009941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86743-59D3-4428-B32C-E9C9300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E2C1D-1EEC-44E7-BC41-67A7BEBD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3C147-EFDD-499C-BB42-3B2B0A2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1AC06-E5F4-4B21-8F81-4255568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OpenI reports become complete image-report retrieval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2671-4BDA-4D10-82C1-6F4ED7E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6429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BBB2F-3148-4D03-A178-3B939A2B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2242B"/>
                </a:solidFill>
              </a:defRPr>
            </a:pPr>
            <a:r>
              <a:rPr sz="1500" b="1">
                <a:solidFill>
                  <a:srgbClr val="12242B"/>
                </a:solidFill>
              </a:rPr>
              <a:t>Case unit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A9FBE-AE61-41AF-98DC-D3DEEF0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case_id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1B52A-82D0-43B6-B72F-974A3A7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stable retrieval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40F4D-6148-4BD1-A4AF-E0230053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indication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49B67-1DFC-4AB0-A206-8BFBB642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question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D8DB9-D3FB-404E-9394-2C181B5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EABB2-86BD-4A31-966A-7CD255E1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main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24946-F72C-4015-A810-4F8039D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impression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48CD8-89F0-48B5-98D5-DE7E16A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reference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A50D0-A090-436F-9C92-D8CC4A1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problems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29AB0-77E5-4C58-8AF8-36D1BB41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195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weak labels / qrels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F334A-6AAD-4D79-B7AD-3D2F070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images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B33E4-CAE8-41E9-B2D4-B755B066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43940"/>
                </a:solidFill>
              </a:defRPr>
            </a:pPr>
            <a:r>
              <a:rPr sz="1125" b="0">
                <a:solidFill>
                  <a:srgbClr val="243940"/>
                </a:solidFill>
              </a:rPr>
              <a:t>linked frontal/lateral filenames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09B26-E115-466C-BF18-D80AF44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1DF3E-3A23-4BE3-BACD-95E6D08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F4D9A-C1DA-4ABF-B456-3D1727B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193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3,851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DD786-C257-4C63-BAC3-264EA29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38425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radiology report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9D6EA-A5A9-4865-917C-C0FC9B01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90FCE-2A88-46E8-8005-D5D8C0F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B543E-CF86-47FF-A69D-A0F056E1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7,466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32CF5-AF62-44EF-9965-CE63734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image projection mappings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CBE67-A63E-4E5C-8875-1478B5F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EF84A-4022-4378-8FCD-F5F49CCF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766ED-6894-45B9-B787-A224BA6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958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2242B"/>
                </a:solidFill>
              </a:defRPr>
            </a:pPr>
            <a:r>
              <a:rPr sz="2400" b="1">
                <a:solidFill>
                  <a:srgbClr val="12242B"/>
                </a:solidFill>
              </a:rPr>
              <a:t>360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5612E-29F7-4C3D-94F5-653AF26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14925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6767A"/>
                </a:solidFill>
              </a:defRPr>
            </a:pPr>
            <a:r>
              <a:rPr sz="975" b="0">
                <a:solidFill>
                  <a:srgbClr val="66767A"/>
                </a:solidFill>
              </a:rPr>
              <a:t>clean QA-seed questions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2049E1-5E37-4646-819C-9A14661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10CE1-2F75-493C-9B77-5118A9F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IU X-Ray / OpenI local processed data</a:t>
            </a:r>
          </a:p>
        </p:txBody>
      </p:sp>
    </p:spTree>
    <p:extLst>
      <p:ext uri="{BB962C8B-B14F-4D97-AF65-F5344CB8AC3E}">
        <p14:creationId xmlns:p14="http://schemas.microsoft.com/office/powerpoint/2010/main" val="140155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ABF76-79B3-466C-ACBB-9CD97144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7CCF8-1443-43F2-8DFE-845DF00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394F9-0B1B-422A-93D1-F36E9843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4C0FD-B9BA-46CA-A8E4-793D5046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The proposed agent loop makes evidence grounding auditable.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53649-B67D-4845-AD68-53BD6F77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381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998C5-BE3E-4CEF-9B5F-CBF7248A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D7ECC-00CA-4102-9FF7-C66F3C2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1114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D256A-9A07-41EA-9498-6D5E05C8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9A58E-1F54-43E6-8F99-00B7FFA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5CFD3-3B71-4937-85CC-8147EAF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1381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338B2-ADBE-473B-AF73-6F1F4A2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CB5D-53FA-4460-804D-D798D59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86075"/>
            <a:ext cx="1114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Query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3908F-CF56-42F9-B5BB-42D19B25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1A37D-9A8C-446B-8378-F386407E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28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B40CA-8E1C-4275-8E41-793A525F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F65B1-6452-46D7-BEB0-51C8F9D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1476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30443-F1FD-40A5-B72A-A2102975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86075"/>
            <a:ext cx="1209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Hybrid case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949A3-D872-472D-B286-CB1C298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0E76F-C32B-47F1-9C79-6059DFD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718BD-D1A4-476A-9911-747E8F05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F7A7C-6E73-4F7C-8C21-89829D2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476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28086-DAF5-44D0-A9D0-7FB2B40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1209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Top-1 case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E3104-9C96-40CD-831E-F3FBDEFF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54986-8C34-4336-9DF2-3CC7245C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28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673DF-764A-4B71-A6A0-7627A5C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1D48F-E558-419E-98A3-6D357126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315B2-D142-4CF0-93B5-B815772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86075"/>
            <a:ext cx="1162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LLM draft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CC8CF-A5C2-4813-B0E3-C6ECCE6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33875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DCF71-2826-4C5D-985F-70D008D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Evidence checker: keep supported claims, revise unsupported claims, or abstain.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4D9ADF-4628-4E09-A92F-A049D19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-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44FFF-685D-4BCC-9AAE-E5EA84C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04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225C0-0C48-4707-8596-FFD62A0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704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C7C78"/>
                </a:solidFill>
              </a:defRPr>
            </a:pPr>
            <a:r>
              <a:rPr sz="1350" b="1">
                <a:solidFill>
                  <a:srgbClr val="0C7C78"/>
                </a:solidFill>
              </a:rPr>
              <a:t>Scope: report-grounded QA, not autonomous raw-image diagnosis.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E7AB3-9F16-46C0-9079-C20C3178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C1B67-567A-433B-8485-E9634EC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Local OpenI/IU X-Ray project experiments</a:t>
            </a:r>
          </a:p>
        </p:txBody>
      </p:sp>
    </p:spTree>
    <p:extLst>
      <p:ext uri="{BB962C8B-B14F-4D97-AF65-F5344CB8AC3E}">
        <p14:creationId xmlns:p14="http://schemas.microsoft.com/office/powerpoint/2010/main" val="357717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C188B-EEA2-49CB-9C6B-33B350F2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99CBB-CF17-40A3-86DF-FF3677B8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RETRIEVAL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D050-989B-4283-A301-8B11C798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2E045-8DEE-4A7D-9441-8AD7A6F9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Hybrid retrieval improves recall even though dense retrieval alone is weaker.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A0346-2DE5-466B-B215-5EE2DCF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D7D94-CB82-4257-A1B2-6FA61EF2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Retriever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456F0-CB52-4629-85F4-CC3FE12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86000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Hit@1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90021-496B-4645-B491-957636F6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86000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Hit@5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B1A2C-3F69-4CEB-8517-AC86086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86000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Hit@20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38972-9743-4DD0-85A3-A74DAF74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MRR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DFABF-DEA0-469B-9939-E0A31892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BM25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613E5-CF24-45F7-95AC-98720C4E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241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0.231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1D490-ABFF-4FF4-8D34-F106B04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241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0.383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CE214-B838-4A62-AD4E-7B4D2ED6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241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0.486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92E40-CBA0-4F32-B213-EFE33E4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241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0.297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DF9D3-497C-4BF8-A902-685AAAD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MedCPT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3C346-F63D-4708-8065-DEEACCD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623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0.108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82A49-1782-47BC-B1B5-82B3F562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1623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0.253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74B4-5A53-4556-8A0A-82C6D044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623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0.406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A92FF-D6FE-40A8-A5B7-1278919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623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0.172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B58B9-6B73-4B51-972B-31DE105E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524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A90F7-BF52-4119-9281-21B0D73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Hybrid a=0.50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C7CF8-9F8E-4A71-92E5-CC6A959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00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0.242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B7338-A645-4565-880B-7663FAE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00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0.422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6B31A-D5E4-4DF2-9CF5-3A31937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00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0.553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8397B-1FCE-49C0-8BCD-D65B1770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00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0.324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78036-AA21-4755-B676-27E1EDF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2242B"/>
                </a:solidFill>
              </a:defRPr>
            </a:pPr>
            <a:r>
              <a:rPr sz="1500" b="1">
                <a:solidFill>
                  <a:srgbClr val="12242B"/>
                </a:solidFill>
              </a:rPr>
              <a:t>Hit@20 comparison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6789D-F7F4-4720-931B-0826894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12242B"/>
                </a:solidFill>
              </a:defRPr>
            </a:pPr>
            <a:r>
              <a:rPr sz="975" b="0">
                <a:solidFill>
                  <a:srgbClr val="12242B"/>
                </a:solidFill>
              </a:rPr>
              <a:t>BM25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EABC4-6D9E-406C-B788-CB6A96A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>
            <a:solidFill>
              <a:srgbClr val="EEE6D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3ABF9-6FE6-47C8-816E-4EAABEA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7003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1C664A-C647-4DA6-8285-885570DF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743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0.486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C7027-2DAE-4CEB-AB9D-B8D60DA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12242B"/>
                </a:solidFill>
              </a:defRPr>
            </a:pPr>
            <a:r>
              <a:rPr sz="975" b="0">
                <a:solidFill>
                  <a:srgbClr val="12242B"/>
                </a:solidFill>
              </a:rPr>
              <a:t>MedCPT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9381D-FEA1-411D-98E0-D63592E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>
            <a:solidFill>
              <a:srgbClr val="EEE6D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4B6E1E-AA4E-40CB-9FA9-A7A26F2D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2558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D5284-5346-4371-929E-8C9AB22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76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0.406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4112E5-4D64-4EFE-BB16-89D22D1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12242B"/>
                </a:solidFill>
              </a:defRPr>
            </a:pPr>
            <a:r>
              <a:rPr sz="975" b="0">
                <a:solidFill>
                  <a:srgbClr val="12242B"/>
                </a:solidFill>
              </a:rPr>
              <a:t>Hybrid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58C0CC-A779-4A13-8CCE-13CF2748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>
            <a:solidFill>
              <a:srgbClr val="EEE6D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F30EE0-916C-477C-82AF-5CC4334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30726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DE7E0-9CF0-49A2-AF1D-81CA8C0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10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0.553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C1EF8E-A56F-4B96-AD91-56FF7A3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C7C78"/>
                </a:solidFill>
              </a:defRPr>
            </a:pPr>
            <a:r>
              <a:rPr sz="1350" b="1">
                <a:solidFill>
                  <a:srgbClr val="0C7C78"/>
                </a:solidFill>
              </a:rPr>
              <a:t>Finding: MedCPT contributes complementary semantic signal when fused with lexical BM25.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51FA52-E731-408C-BF42-01C31E2C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3E90FD-1050-4B21-993C-7035F9B4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Clean QA seed, 360 questions</a:t>
            </a:r>
          </a:p>
        </p:txBody>
      </p:sp>
    </p:spTree>
    <p:extLst>
      <p:ext uri="{BB962C8B-B14F-4D97-AF65-F5344CB8AC3E}">
        <p14:creationId xmlns:p14="http://schemas.microsoft.com/office/powerpoint/2010/main" val="1153929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794AB6-936A-4B6F-B47D-C8D00AD7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11B73-B92A-4224-8532-1BFAE4AE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GENERATION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FD03C-50D5-45CB-9064-5239571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9F93-61C8-41B4-9A4F-364C47EF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Top-1 case prompting is the strongest local small-model setting.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B3B91-0F69-4078-9A73-1431C6E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819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BDA0C-38BF-4109-9E89-D7D4C63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4EDA-3ECE-4AED-8DCC-87CAA5E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241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Token-F1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7D980-0C63-4670-A885-6FD22A98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241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Top-1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9E41E-0ACE-4A10-A9E4-9DC87ECF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6767A"/>
                </a:solidFill>
              </a:defRPr>
            </a:pPr>
            <a:r>
              <a:rPr sz="975" b="1">
                <a:solidFill>
                  <a:srgbClr val="66767A"/>
                </a:solidFill>
              </a:rPr>
              <a:t>Retrieved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429D5-1926-4660-A95A-301411C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Qwen2.5-1.5B LLM-only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188E0-92EC-4EF3-9B2E-2B7676A3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0.097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F5F7A-D8E0-4710-ACC2-38B8FDD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52F95-8E2A-45D0-9E93-0A82E44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B31B2-D27A-4C04-A611-15FBFFD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Report RAG BM25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36BF4-FAE6-43BD-A99A-72E05A84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813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0.148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D0FF8-8377-4ADF-AFC9-04151702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813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0.300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5B64A-5DF0-43D5-920D-CC202045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813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0.533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D45FB-0EA0-4165-9E48-92B4A32C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Case RAG BM25 top-1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CCB7B-CC22-4F6B-879E-FB6FCA7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81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0.209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9F7AB-8675-482F-9F34-3CE659EE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AC0A9-9A25-4215-89CD-2C73CA3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2242B"/>
                </a:solidFill>
              </a:defRPr>
            </a:pPr>
            <a:r>
              <a:rPr sz="1125" b="0">
                <a:solidFill>
                  <a:srgbClr val="12242B"/>
                </a:solidFill>
              </a:rPr>
              <a:t>0.533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3C7D9-BF7A-49E7-8D54-20F2EEF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769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3DDD6-F0DF-4B51-98FD-B77DE09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Case RAG Hybrid top-1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6A524-E6F6-4DF7-9089-79C91FB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0.218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B3238-16EC-4223-8CC9-0C7A637E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81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0.333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0AC52-53AF-4519-AC4A-DE3D4BFE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>
            <a:solidFill>
              <a:srgbClr val="E2EF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2242B"/>
                </a:solidFill>
              </a:defRPr>
            </a:pPr>
            <a:r>
              <a:rPr sz="1125" b="1">
                <a:solidFill>
                  <a:srgbClr val="12242B"/>
                </a:solidFill>
              </a:rPr>
              <a:t>0.600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37244-1FCF-4383-BABD-5ED182D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619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4A3C0-9DBA-45A3-9DDF-3904C07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Pilot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D120A-BD88-408E-A5E9-184A655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1200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7E7E1"/>
                </a:solidFill>
              </a:defRPr>
            </a:pPr>
            <a:r>
              <a:rPr sz="1125" b="0">
                <a:solidFill>
                  <a:srgbClr val="D7E7E1"/>
                </a:solidFill>
              </a:rPr>
              <a:t>30 questions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7E7E1"/>
                </a:solidFill>
              </a:defRPr>
            </a:pPr>
            <a:r>
              <a:rPr sz="1125" b="0">
                <a:solidFill>
                  <a:srgbClr val="D7E7E1"/>
                </a:solidFill>
              </a:rPr>
              <a:t>not final-scale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D7E7E1"/>
                </a:solidFill>
              </a:defRPr>
            </a:pPr>
            <a:r>
              <a:rPr sz="1125" b="0">
                <a:solidFill>
                  <a:srgbClr val="D7E7E1"/>
                </a:solidFill>
              </a:rPr>
              <a:t>pipeline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537A5-1EA3-46D9-B723-41BF99F0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C7C78"/>
                </a:solidFill>
              </a:defRPr>
            </a:pPr>
            <a:r>
              <a:rPr sz="1500" b="1">
                <a:solidFill>
                  <a:srgbClr val="0C7C78"/>
                </a:solidFill>
              </a:rPr>
              <a:t>Interpretation: retrieval helps, and restricting generation to the selected case reduces noisy cross-case summaries.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1F5BD-B1C1-4555-9381-37F096C6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3C66B-9582-4F4D-B961-4427AE3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Qwen2.5-1.5B local GPU pilot, 30 clean QA-seed questions</a:t>
            </a:r>
          </a:p>
        </p:txBody>
      </p:sp>
    </p:spTree>
    <p:extLst>
      <p:ext uri="{BB962C8B-B14F-4D97-AF65-F5344CB8AC3E}">
        <p14:creationId xmlns:p14="http://schemas.microsoft.com/office/powerpoint/2010/main" val="1708239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CF9F7-E2BC-48FE-8456-370011EF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DA84-C68D-44C4-8276-50A1B2C8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ERROR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D581-5A29-403C-8F06-789BCC3A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60BCD-D8C0-4A8B-8D6F-D4A4CF67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The pilot surfaced cross-case contamination as a concrete medical RAG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84D95-C70D-4DCB-8DE8-BFEFE09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4172-5BDF-4072-9CED-F8F1B53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>
            <a:solidFill>
              <a:srgbClr val="FFF8F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D2644A"/>
                </a:solidFill>
              </a:defRPr>
            </a:pPr>
            <a:r>
              <a:rPr sz="1500" b="1">
                <a:solidFill>
                  <a:srgbClr val="D2644A"/>
                </a:solidFill>
              </a:rPr>
              <a:t>Before: top-k evidence pool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2C589-0FD4-4C89-8256-8CE1CE8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400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>
            <a:solidFill>
              <a:srgbClr val="FFF8F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The model copies several retrieved case impressions into one answer: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1. Limited chest radiograph...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2. Borderline cardiac silhouette...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3. Stable right middle lobe consolidation...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45320-33D6-4E5A-B862-8C429E2F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767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>
            <a:solidFill>
              <a:srgbClr val="FFF8F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D2644A"/>
                </a:solidFill>
              </a:defRPr>
            </a:pPr>
            <a:r>
              <a:rPr sz="1125" b="1">
                <a:solidFill>
                  <a:srgbClr val="D2644A"/>
                </a:solidFill>
              </a:rPr>
              <a:t>Problem: each claim is somewhere in top-k evidence, but not all belong to the selected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425DF-95E5-4253-9CFB-F5A00B3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6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0EC55-00B4-450B-B55E-226E3184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05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6"/>
          </a:solidFill>
          <a:ln xmlns:a="http://schemas.openxmlformats.org/drawingml/2006/main">
            <a:solidFill>
              <a:srgbClr val="F3FA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A8D5D"/>
                </a:solidFill>
              </a:defRPr>
            </a:pPr>
            <a:r>
              <a:rPr sz="1500" b="1">
                <a:solidFill>
                  <a:srgbClr val="3A8D5D"/>
                </a:solidFill>
              </a:rPr>
              <a:t>After: top-1 case checker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8DBCB-32D8-43CC-8914-4043418E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6"/>
          </a:solidFill>
          <a:ln xmlns:a="http://schemas.openxmlformats.org/drawingml/2006/main">
            <a:solidFill>
              <a:srgbClr val="F3FA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The checker keeps only claims supported by CXR1027: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43940"/>
                </a:solidFill>
              </a:defRPr>
            </a:pPr>
            <a:r>
              <a:rPr sz="1200" b="0">
                <a:solidFill>
                  <a:srgbClr val="243940"/>
                </a:solidFill>
              </a:rPr>
              <a:t>Limited chest radiograph examination without demonstration of an acute intrathoracic abnormality.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C59C3-9436-436E-A6AC-49DAAE92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767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6"/>
          </a:solidFill>
          <a:ln xmlns:a="http://schemas.openxmlformats.org/drawingml/2006/main">
            <a:solidFill>
              <a:srgbClr val="F3FA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A8D5D"/>
                </a:solidFill>
              </a:defRPr>
            </a:pPr>
            <a:r>
              <a:rPr sz="1125" b="1">
                <a:solidFill>
                  <a:srgbClr val="3A8D5D"/>
                </a:solidFill>
              </a:rPr>
              <a:t>Design rule: evidence support must be case-specific, not just top-k-document supported.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80EF1-826B-4100-A785-5C5196E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0C7C78"/>
                </a:solidFill>
              </a:defRPr>
            </a:pPr>
            <a:r>
              <a:rPr sz="1650" b="1">
                <a:solidFill>
                  <a:srgbClr val="0C7C78"/>
                </a:solidFill>
              </a:rPr>
              <a:t>This gives the thesis a concrete failure mode, mitigation strategy, and evaluation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681BD-986D-40AF-98F2-1D50CB79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4AB62-429F-4BEC-A647-EC5A326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Local OpenI/IU X-Ray project experiments</a:t>
            </a:r>
          </a:p>
        </p:txBody>
      </p:sp>
    </p:spTree>
    <p:extLst>
      <p:ext uri="{BB962C8B-B14F-4D97-AF65-F5344CB8AC3E}">
        <p14:creationId xmlns:p14="http://schemas.microsoft.com/office/powerpoint/2010/main" val="338451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6EBCC-2CF8-424F-BE38-064DE72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3BF34-4441-4CCB-AD00-DA255760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ACE4A-D20A-4F42-ADB2-F200763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0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66767A"/>
                </a:solidFill>
              </a:defRPr>
            </a:pPr>
            <a:r>
              <a:rPr sz="900" b="0">
                <a:solidFill>
                  <a:srgbClr val="66767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BEE5D-6687-4E84-A07A-1C637EC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2242B"/>
                </a:solidFill>
              </a:defRPr>
            </a:pPr>
            <a:r>
              <a:rPr sz="2550" b="1">
                <a:solidFill>
                  <a:srgbClr val="12242B"/>
                </a:solidFill>
              </a:rPr>
              <a:t>The remaining work is evaluation depth, not basic feasibility.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663AD-1F7B-4EA0-BC84-8FE0EA2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BED8-DA82-4D13-AAB6-93E8CD90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>
            <a:solidFill>
              <a:srgbClr val="0C7C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209C2-D7B3-4F04-B5DB-E2AB1CD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C7C78"/>
                </a:solidFill>
              </a:defRPr>
            </a:pPr>
            <a:r>
              <a:rPr sz="1650" b="1">
                <a:solidFill>
                  <a:srgbClr val="0C7C7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7D99-604A-424A-8A97-6DB9C32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43175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Manual annotation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30-50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9D36E-E338-4F83-B23D-0742CA0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09B17-B6EA-4C6C-B208-CF872DE6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F8C"/>
          </a:solidFill>
          <a:ln xmlns:a="http://schemas.openxmlformats.org/drawingml/2006/main">
            <a:solidFill>
              <a:srgbClr val="4B6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B861-D683-4805-B0EA-13ED518D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431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B6F8C"/>
                </a:solidFill>
              </a:defRPr>
            </a:pPr>
            <a:r>
              <a:rPr sz="1650" b="1">
                <a:solidFill>
                  <a:srgbClr val="4B6F8C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DD867-A569-43B8-907A-58B00205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43175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Scale generation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if compute allows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7C251-19B4-4C74-8AC2-587B230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187B9-FA8B-4B83-9D12-AEC7AB3B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5D"/>
          </a:solidFill>
          <a:ln xmlns:a="http://schemas.openxmlformats.org/drawingml/2006/main">
            <a:solidFill>
              <a:srgbClr val="3A8D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06224-DE0A-4C96-BBD0-E7273DA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A8D5D"/>
                </a:solidFill>
              </a:defRPr>
            </a:pPr>
            <a:r>
              <a:rPr sz="1650" b="1">
                <a:solidFill>
                  <a:srgbClr val="3A8D5D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63859-8F43-4B74-ADC6-EA00BC9D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Compare four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system variants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115FF-F19E-4924-ACFE-43B652B8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0B94F-418C-43DC-8E3B-E10DE169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644A"/>
          </a:solidFill>
          <a:ln xmlns:a="http://schemas.openxmlformats.org/drawingml/2006/main">
            <a:solidFill>
              <a:srgbClr val="D264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E709A-1D06-47C4-90F8-30A88E0C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431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D2644A"/>
                </a:solidFill>
              </a:defRPr>
            </a:pPr>
            <a:r>
              <a:rPr sz="1650" b="1">
                <a:solidFill>
                  <a:srgbClr val="D2644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BAE36-8540-40AA-B6E3-E871434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43175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Analyze failures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and revisions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35F36-420D-4698-BF81-0998292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245F9-B590-4365-ACA6-45CFFB2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362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940"/>
          </a:solidFill>
          <a:ln xmlns:a="http://schemas.openxmlformats.org/drawingml/2006/main">
            <a:solidFill>
              <a:srgbClr val="2439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A4755-9270-4425-8431-8933D82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431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3940"/>
                </a:solidFill>
              </a:defRPr>
            </a:pPr>
            <a:r>
              <a:rPr sz="1650" b="1">
                <a:solidFill>
                  <a:srgbClr val="243940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65B7F-84AA-4510-B610-FAFE7C6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43175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Finalize report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12242B"/>
                </a:solidFill>
              </a:defRPr>
            </a:pPr>
            <a:r>
              <a:rPr sz="1200" b="1">
                <a:solidFill>
                  <a:srgbClr val="12242B"/>
                </a:solidFill>
              </a:rPr>
              <a:t>and defense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9E4F5-1835-4868-B125-7D9B54F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2AA32-067F-40B7-B54B-9A47B3D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2B"/>
          </a:solidFill>
          <a:ln xmlns:a="http://schemas.openxmlformats.org/drawingml/2006/main">
            <a:solidFill>
              <a:srgbClr val="122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Already working locally: processed data, BM25/MedCPT/hybrid retrieval, prompt packs, Qwen pilot generation, evidence checker, annotation sheets.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59C7A-497A-4AB1-A9B8-EAB7C28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0C7"/>
          </a:solidFill>
          <a:ln xmlns:a="http://schemas.openxmlformats.org/drawingml/2006/main">
            <a:solidFill>
              <a:srgbClr val="C8D0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F377F-4758-4B38-BFD5-F8786D0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>
            <a:solidFill>
              <a:srgbClr val="F6F1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6767A"/>
                </a:solidFill>
              </a:defRPr>
            </a:pPr>
            <a:r>
              <a:rPr sz="750" b="0">
                <a:solidFill>
                  <a:srgbClr val="66767A"/>
                </a:solidFill>
              </a:rPr>
              <a:t>Next milestone: supervisor-ready proposal report and P1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25812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2026-06-05T15:18:46.8940000Z</dcterms:created>
  <dcterms:modified xsi:type="dcterms:W3CDTF">2026-06-05T15:18:46.8940000Z</dcterms:modified>
</coreProperties>
</file>