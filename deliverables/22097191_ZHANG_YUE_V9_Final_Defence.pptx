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566141cd348fa" /><Relationship Type="http://schemas.openxmlformats.org/officeDocument/2006/relationships/extended-properties" Target="/docProps/app.xml" Id="R3155b40fc57344ae" /><Relationship Type="http://schemas.openxmlformats.org/officeDocument/2006/relationships/officeDocument" Target="/ppt/presentation.xml" Id="Ra792fdf94dd64c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8786ebf8a748cd"/>
  </p:sldMasterIdLst>
  <p:notesMasterIdLst>
    <p:notesMasterId xmlns:r="http://schemas.openxmlformats.org/officeDocument/2006/relationships" r:id="R23ae19dad0b04f33"/>
  </p:notesMasterIdLst>
  <p:sldIdLst>
    <p:sldId xmlns:r="http://schemas.openxmlformats.org/officeDocument/2006/relationships" id="256" r:id="Rc322b1b89d814335"/>
    <p:sldId xmlns:r="http://schemas.openxmlformats.org/officeDocument/2006/relationships" id="257" r:id="R5c66c31a0b9b45fc"/>
    <p:sldId xmlns:r="http://schemas.openxmlformats.org/officeDocument/2006/relationships" id="258" r:id="Rb3e6ec276926443b"/>
    <p:sldId xmlns:r="http://schemas.openxmlformats.org/officeDocument/2006/relationships" id="259" r:id="R88c08ba376d844d7"/>
    <p:sldId xmlns:r="http://schemas.openxmlformats.org/officeDocument/2006/relationships" id="260" r:id="R94f43d8b501b4da5"/>
    <p:sldId xmlns:r="http://schemas.openxmlformats.org/officeDocument/2006/relationships" id="261" r:id="Rbcda5871b6fb47a9"/>
    <p:sldId xmlns:r="http://schemas.openxmlformats.org/officeDocument/2006/relationships" id="262" r:id="R8f9a9ce6498044a3"/>
    <p:sldId xmlns:r="http://schemas.openxmlformats.org/officeDocument/2006/relationships" id="263" r:id="R042d6bd5a1904709"/>
    <p:sldId xmlns:r="http://schemas.openxmlformats.org/officeDocument/2006/relationships" id="264" r:id="Rb594d927393b4b55"/>
    <p:sldId xmlns:r="http://schemas.openxmlformats.org/officeDocument/2006/relationships" id="265" r:id="R8cd7450f7761467c"/>
    <p:sldId xmlns:r="http://schemas.openxmlformats.org/officeDocument/2006/relationships" id="266" r:id="R0aad072363e94095"/>
    <p:sldId xmlns:r="http://schemas.openxmlformats.org/officeDocument/2006/relationships" id="267" r:id="R2fabefe2948d4d55"/>
    <p:sldId xmlns:r="http://schemas.openxmlformats.org/officeDocument/2006/relationships" id="268" r:id="R403520447df1463a"/>
    <p:sldId xmlns:r="http://schemas.openxmlformats.org/officeDocument/2006/relationships" id="269" r:id="Rc9f8b603f1184fd0"/>
    <p:sldId xmlns:r="http://schemas.openxmlformats.org/officeDocument/2006/relationships" id="270" r:id="R2a61df158e394c93"/>
    <p:sldId xmlns:r="http://schemas.openxmlformats.org/officeDocument/2006/relationships" id="271" r:id="R6bfe9c265ec54a5e"/>
    <p:sldId xmlns:r="http://schemas.openxmlformats.org/officeDocument/2006/relationships" id="272" r:id="R1912631b0729446a"/>
    <p:sldId xmlns:r="http://schemas.openxmlformats.org/officeDocument/2006/relationships" id="273" r:id="R3f9d9127faf749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e6335d2c8a48ee" /><Relationship Type="http://schemas.openxmlformats.org/officeDocument/2006/relationships/slideMaster" Target="/ppt/slideMasters/slideMaster1.xml" Id="R178786ebf8a748cd" /><Relationship Type="http://schemas.openxmlformats.org/officeDocument/2006/relationships/notesMaster" Target="/ppt/notesMasters/notesMaster1.xml" Id="R23ae19dad0b04f33" /><Relationship Type="http://schemas.openxmlformats.org/officeDocument/2006/relationships/presProps" Target="/ppt/presProps.xml" Id="Rebab46fadb68451d" /><Relationship Type="http://schemas.openxmlformats.org/officeDocument/2006/relationships/tableStyles" Target="/ppt/tableStyles.xml" Id="R380b6451389d4513" /><Relationship Type="http://schemas.openxmlformats.org/officeDocument/2006/relationships/slide" Target="/ppt/slides/slide1.xml" Id="Rc322b1b89d814335" /><Relationship Type="http://schemas.openxmlformats.org/officeDocument/2006/relationships/slide" Target="/ppt/slides/slide2.xml" Id="R5c66c31a0b9b45fc" /><Relationship Type="http://schemas.openxmlformats.org/officeDocument/2006/relationships/slide" Target="/ppt/slides/slide3.xml" Id="Rb3e6ec276926443b" /><Relationship Type="http://schemas.openxmlformats.org/officeDocument/2006/relationships/slide" Target="/ppt/slides/slide4.xml" Id="R88c08ba376d844d7" /><Relationship Type="http://schemas.openxmlformats.org/officeDocument/2006/relationships/slide" Target="/ppt/slides/slide5.xml" Id="R94f43d8b501b4da5" /><Relationship Type="http://schemas.openxmlformats.org/officeDocument/2006/relationships/slide" Target="/ppt/slides/slide6.xml" Id="Rbcda5871b6fb47a9" /><Relationship Type="http://schemas.openxmlformats.org/officeDocument/2006/relationships/slide" Target="/ppt/slides/slide7.xml" Id="R8f9a9ce6498044a3" /><Relationship Type="http://schemas.openxmlformats.org/officeDocument/2006/relationships/slide" Target="/ppt/slides/slide8.xml" Id="R042d6bd5a1904709" /><Relationship Type="http://schemas.openxmlformats.org/officeDocument/2006/relationships/slide" Target="/ppt/slides/slide9.xml" Id="Rb594d927393b4b55" /><Relationship Type="http://schemas.openxmlformats.org/officeDocument/2006/relationships/slide" Target="/ppt/slides/slide10.xml" Id="R8cd7450f7761467c" /><Relationship Type="http://schemas.openxmlformats.org/officeDocument/2006/relationships/slide" Target="/ppt/slides/slide11.xml" Id="R0aad072363e94095" /><Relationship Type="http://schemas.openxmlformats.org/officeDocument/2006/relationships/slide" Target="/ppt/slides/slide12.xml" Id="R2fabefe2948d4d55" /><Relationship Type="http://schemas.openxmlformats.org/officeDocument/2006/relationships/slide" Target="/ppt/slides/slide13.xml" Id="R403520447df1463a" /><Relationship Type="http://schemas.openxmlformats.org/officeDocument/2006/relationships/slide" Target="/ppt/slides/slide14.xml" Id="Rc9f8b603f1184fd0" /><Relationship Type="http://schemas.openxmlformats.org/officeDocument/2006/relationships/slide" Target="/ppt/slides/slide15.xml" Id="R2a61df158e394c93" /><Relationship Type="http://schemas.openxmlformats.org/officeDocument/2006/relationships/slide" Target="/ppt/slides/slide16.xml" Id="R6bfe9c265ec54a5e" /><Relationship Type="http://schemas.openxmlformats.org/officeDocument/2006/relationships/slide" Target="/ppt/slides/slide17.xml" Id="R1912631b0729446a" /><Relationship Type="http://schemas.openxmlformats.org/officeDocument/2006/relationships/slide" Target="/ppt/slides/slide18.xml" Id="R3f9d9127faf7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751c2cd11644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2b0b925fa84e43" /><Relationship Type="http://schemas.openxmlformats.org/officeDocument/2006/relationships/notesMaster" Target="/ppt/notesMasters/notesMaster1.xml" Id="R8b90a0bd1bc246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b354a502c143de" /><Relationship Type="http://schemas.openxmlformats.org/officeDocument/2006/relationships/notesMaster" Target="/ppt/notesMasters/notesMaster1.xml" Id="R5eef155cd61e47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63587589564a1f" /><Relationship Type="http://schemas.openxmlformats.org/officeDocument/2006/relationships/notesMaster" Target="/ppt/notesMasters/notesMaster1.xml" Id="R78313cfd976640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66248842344754" /><Relationship Type="http://schemas.openxmlformats.org/officeDocument/2006/relationships/notesMaster" Target="/ppt/notesMasters/notesMaster1.xml" Id="Ra9ee5001820d44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c5c43ac3b24aad" /><Relationship Type="http://schemas.openxmlformats.org/officeDocument/2006/relationships/notesMaster" Target="/ppt/notesMasters/notesMaster1.xml" Id="R41bbffd5262e4e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534286d13d466d" /><Relationship Type="http://schemas.openxmlformats.org/officeDocument/2006/relationships/notesMaster" Target="/ppt/notesMasters/notesMaster1.xml" Id="R3193a5391e584c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fd9801be664223" /><Relationship Type="http://schemas.openxmlformats.org/officeDocument/2006/relationships/notesMaster" Target="/ppt/notesMasters/notesMaster1.xml" Id="R6aab204f6b284e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c92f84e2794c58" /><Relationship Type="http://schemas.openxmlformats.org/officeDocument/2006/relationships/notesMaster" Target="/ppt/notesMasters/notesMaster1.xml" Id="Rbbd1714ddfc64a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00e952a8cf4bba" /><Relationship Type="http://schemas.openxmlformats.org/officeDocument/2006/relationships/notesMaster" Target="/ppt/notesMasters/notesMaster1.xml" Id="Rd54bc3dbad1741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6ed52e4dca4ffa" /><Relationship Type="http://schemas.openxmlformats.org/officeDocument/2006/relationships/notesMaster" Target="/ppt/notesMasters/notesMaster1.xml" Id="R35765cca9c9f43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a8b133b4b24bf8" /><Relationship Type="http://schemas.openxmlformats.org/officeDocument/2006/relationships/notesMaster" Target="/ppt/notesMasters/notesMaster1.xml" Id="R7e5d866878ad41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54feaeb08e4350" /><Relationship Type="http://schemas.openxmlformats.org/officeDocument/2006/relationships/notesMaster" Target="/ppt/notesMasters/notesMaster1.xml" Id="Red7face7e49a4d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572df7e93143ee" /><Relationship Type="http://schemas.openxmlformats.org/officeDocument/2006/relationships/notesMaster" Target="/ppt/notesMasters/notesMaster1.xml" Id="R44d65eeb878a47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a132b3a0394d9e" /><Relationship Type="http://schemas.openxmlformats.org/officeDocument/2006/relationships/notesMaster" Target="/ppt/notesMasters/notesMaster1.xml" Id="Reb7f08b07bd44d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45e8d1c35b24aee" /><Relationship Type="http://schemas.openxmlformats.org/officeDocument/2006/relationships/notesMaster" Target="/ppt/notesMasters/notesMaster1.xml" Id="Rd84e2058b75043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92ff4990f24460" /><Relationship Type="http://schemas.openxmlformats.org/officeDocument/2006/relationships/notesMaster" Target="/ppt/notesMasters/notesMaster1.xml" Id="R3dd73e0ca20d44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f106a7e2c24a9f" /><Relationship Type="http://schemas.openxmlformats.org/officeDocument/2006/relationships/notesMaster" Target="/ppt/notesMasters/notesMaster1.xml" Id="Ra05a75dd166d4c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732fbc486e4aa4" /><Relationship Type="http://schemas.openxmlformats.org/officeDocument/2006/relationships/notesMaster" Target="/ppt/notesMasters/notesMaster1.xml" Id="R9530e783ea7e47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defining the final task as new-patient similar-case evidence retrieval, not target-report identification.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V9 study record: docs/V9_TECHNICAL_FREEZE.md</a:t>
            </a:r>
          </a:p>
          <a:p xmlns:a="http://schemas.openxmlformats.org/drawingml/2006/main">
            <a:r>
              <a:t>- Image: data/raw/openi_official_images/CXR1000_IM-0003-1001.png (OpenI/IU X-Ray source; Demner-Fushman et al., 2016, https://doi.org/10.1038/sdata.2016.43)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the separation between target-case inputs, hidden reference information, and other-case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- docs/P2_V9_FINAL_MANUSCRIPT.md, Sections 1.2 and 3.14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four questions before describing architecture so every later result has a clear purpose.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docs/P2_V9_FINAL_MANUSCRIPT.md, Section 1.4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continuity without presenting version history as the contribution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README.md, Study Structure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the 279-case external subset was not used as the main study and why all 3,851 OpenI cases were instead reallocated.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- data/splits/v9_full_source_split_freeze.json</a:t>
            </a:r>
          </a:p>
          <a:p xmlns:a="http://schemas.openxmlformats.org/drawingml/2006/main">
            <a:r>
              <a:t>- docs/V8_TECHNICAL_FREEZE.md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agent audits only claims attributed to retrieved historical reports; it does not inspect target-image pixels.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docs/P2_V9_FINAL_MANUSCRIPT.md, Sections 3.17-3.21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R4 is compared with R1, not only BM25, because image-image was already the strongest frozen component.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docs/V9_RETRIEVAL_DEVELOPMENT_DECISION_RECORD.md</a:t>
            </a:r>
          </a:p>
          <a:p xmlns:a="http://schemas.openxmlformats.org/drawingml/2006/main">
            <a:r>
              <a:t>- docs/V9_RETRIEVAL_CONFIRMATION_PROTOCOL.md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methodological contribution is a small trainable fusion/ranking component, not foundation-model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docs/V9_LEARNED_RERANKER_DEVELOPMENT_PROTOCOL.md</a:t>
            </a:r>
          </a:p>
          <a:p xmlns:a="http://schemas.openxmlformats.org/drawingml/2006/main">
            <a:r>
              <a:t>- docs/V9_LEARNED_RERANKER_DEVELOPMENT_DECISION_RECORD.md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the relevance labels are automated and report-derived, not physician-adjudicated clinical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docs/V9_RETRIEVAL_CONFIRMATION_PROTOCOL.md</a:t>
            </a:r>
          </a:p>
          <a:p xmlns:a="http://schemas.openxmlformats.org/drawingml/2006/main">
            <a:r>
              <a:t>- docs/V9_QA_AGENT_VALIDITY_AUDIT.md</a:t>
            </a:r>
          </a:p>
          <a:p xmlns:a="http://schemas.openxmlformats.org/drawingml/2006/main">
            <a:r>
              <a:t>- docs/P2_V9_FINAL_MANUSCRIPT.md, Sections 3.16 and 5.5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learned model adds a small but statistically resolved gain over a strong image-only component. Do not frame BM25 as the strongest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experiments/v9/retrieval_confirmation_summary.json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shuffled-image control is the key evidence that the contribution is alignment-specific rather than generic score perturbation.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experiments/v9/alignment_control_summary.json</a:t>
            </a:r>
          </a:p>
          <a:p xmlns:a="http://schemas.openxmlformats.org/drawingml/2006/main">
            <a:r>
              <a:t>- docs/V9_ALIGNMENT_CONTROL_PROTOCOL.md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claim hierarchy precise: the primary QA transfer result is G3 versus G0; G3 versus G2 is numerical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experiments/v9/qa_confirmation_summary.json</a:t>
            </a:r>
          </a:p>
          <a:p xmlns:a="http://schemas.openxmlformats.org/drawingml/2006/main">
            <a:r>
              <a:t>- docs/V9_QA_CONFIRMATION_PROTOCOL.md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this clinical verification. It is bounded claim suppression over historical-report support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experiments/v9/agent_confirmation_summary.json</a:t>
            </a:r>
          </a:p>
          <a:p xmlns:a="http://schemas.openxmlformats.org/drawingml/2006/main">
            <a:r>
              <a:t>- docs/V9_AGENT_CONFIRMATION_PROTOCOL.md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protects the evidence boundary. If the review is completed later, update only the qualitative section without changing frozen V9 quantitative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docs/V9_QUALITATIVE_REVIEW_GUIDE.md</a:t>
            </a:r>
          </a:p>
          <a:p xmlns:a="http://schemas.openxmlformats.org/drawingml/2006/main">
            <a:r>
              <a:t>- docs/V9_QUALITATIVE_ERROR_ANALYSIS.md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limits verbatim if asked whether the system diagnoses patients or is ready for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- docs/P2_V9_FINAL_MANUSCRIPT.md, Section 5.5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defence, demonstrate upload, retrieval, evidence inspection, optional generation, and the explicit historical-analogy warning.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Image: outputs/v9_dashboard_visual/desktop_v9.png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README.md, Interactive Dashboard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four contributions and return to the distinction between retrieval relevance, answer consistency, and clinical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docs/P2_V9_FINAL_MANUSCRIPT.md, Section 5.3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task. Invite questions on cohort construction, relevance labels, alignment controls, and the agent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docs/V9_TECHNICAL_FREEZE.md</a:t>
            </a:r>
          </a:p>
          <a:p xmlns:a="http://schemas.openxmlformats.org/drawingml/2006/main">
            <a:r>
              <a:t>- docs/P2_V9_FINAL_MANUSCRIPT.md, Section 5.7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41f22f0a444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a0d41971934221" /><Relationship Type="http://schemas.openxmlformats.org/officeDocument/2006/relationships/slideLayout" Target="/ppt/slideLayouts/slideLayout1.xml" Id="R38781fefdc0c4b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781fefdc0c4b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65650ae4c4b49" /><Relationship Type="http://schemas.openxmlformats.org/officeDocument/2006/relationships/image" Target="/ppt/media/image.png" Id="R023f5e67129a4789" /><Relationship Type="http://schemas.openxmlformats.org/officeDocument/2006/relationships/notesSlide" Target="/ppt/notesSlides/notesSlide1.xml" Id="Raea4d2c8afb947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ba9e465954adf" /><Relationship Type="http://schemas.openxmlformats.org/officeDocument/2006/relationships/notesSlide" Target="/ppt/notesSlides/notesSlide2.xml" Id="R6a77d09aa48341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3f46086b74961" /><Relationship Type="http://schemas.openxmlformats.org/officeDocument/2006/relationships/notesSlide" Target="/ppt/notesSlides/notesSlide3.xml" Id="Rcb848b5975d746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541ee4e7d4a8a" /><Relationship Type="http://schemas.openxmlformats.org/officeDocument/2006/relationships/notesSlide" Target="/ppt/notesSlides/notesSlide4.xml" Id="R81ecc15ba75842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460029ab44cec" /><Relationship Type="http://schemas.openxmlformats.org/officeDocument/2006/relationships/notesSlide" Target="/ppt/notesSlides/notesSlide5.xml" Id="Rd910cfa6f66340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5e067813049c6" /><Relationship Type="http://schemas.openxmlformats.org/officeDocument/2006/relationships/notesSlide" Target="/ppt/notesSlides/notesSlide6.xml" Id="R9b4b1308346349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551128b204b5d" /><Relationship Type="http://schemas.openxmlformats.org/officeDocument/2006/relationships/notesSlide" Target="/ppt/notesSlides/notesSlide7.xml" Id="R7ce289852b9649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dd4677aef43fb" /><Relationship Type="http://schemas.openxmlformats.org/officeDocument/2006/relationships/notesSlide" Target="/ppt/notesSlides/notesSlide8.xml" Id="R0b05ff210cd545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d09ab3da2442e" /><Relationship Type="http://schemas.openxmlformats.org/officeDocument/2006/relationships/notesSlide" Target="/ppt/notesSlides/notesSlide9.xml" Id="R28d87153d8ed4a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bb6d9dd0d46a6" /><Relationship Type="http://schemas.openxmlformats.org/officeDocument/2006/relationships/chart" Target="/ppt/slides/charts/chart1.xml" Id="R708bfa3b6ce946db" /><Relationship Type="http://schemas.openxmlformats.org/officeDocument/2006/relationships/notesSlide" Target="/ppt/notesSlides/notesSlide10.xml" Id="R4e28d7fb4d204b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debcac6ea43f9" /><Relationship Type="http://schemas.openxmlformats.org/officeDocument/2006/relationships/chart" Target="/ppt/slides/charts/chart2.xml" Id="Rbd74df2e0c344797" /><Relationship Type="http://schemas.openxmlformats.org/officeDocument/2006/relationships/notesSlide" Target="/ppt/notesSlides/notesSlide11.xml" Id="Rfc35ac6533f74e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488c44c7b4740" /><Relationship Type="http://schemas.openxmlformats.org/officeDocument/2006/relationships/chart" Target="/ppt/slides/charts/chart3.xml" Id="R0f56803a4e734fe6" /><Relationship Type="http://schemas.openxmlformats.org/officeDocument/2006/relationships/notesSlide" Target="/ppt/notesSlides/notesSlide12.xml" Id="R2b799ef4530f41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acc37db1d4bdd" /><Relationship Type="http://schemas.openxmlformats.org/officeDocument/2006/relationships/notesSlide" Target="/ppt/notesSlides/notesSlide13.xml" Id="R97afacca3f1043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3df4eaba3428a" /><Relationship Type="http://schemas.openxmlformats.org/officeDocument/2006/relationships/notesSlide" Target="/ppt/notesSlides/notesSlide14.xml" Id="Rce2d0d8762964c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be11652e34c5f" /><Relationship Type="http://schemas.openxmlformats.org/officeDocument/2006/relationships/notesSlide" Target="/ppt/notesSlides/notesSlide15.xml" Id="R1884facad51f4a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7e389070749c2" /><Relationship Type="http://schemas.openxmlformats.org/officeDocument/2006/relationships/image" Target="/ppt/media/image2.png" Id="Rf94ee749e52d4260" /><Relationship Type="http://schemas.openxmlformats.org/officeDocument/2006/relationships/notesSlide" Target="/ppt/notesSlides/notesSlide16.xml" Id="Radc311315ff94fb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c0124a0814c5a" /><Relationship Type="http://schemas.openxmlformats.org/officeDocument/2006/relationships/notesSlide" Target="/ppt/notesSlides/notesSlide17.xml" Id="R6d73a04d857942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bdbc36d514f0f" /><Relationship Type="http://schemas.openxmlformats.org/officeDocument/2006/relationships/notesSlide" Target="/ppt/notesSlides/notesSlide18.xml" Id="R8a5add59ffef46c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nDCG@10 (%)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BM25</c:v>
              </c:pt>
              <c:pt idx="1">
                <c:v>Image-image</c:v>
              </c:pt>
              <c:pt idx="2">
                <c:v>Image-report</c:v>
              </c:pt>
              <c:pt idx="3">
                <c:v>Fixed multimodal</c:v>
              </c:pt>
              <c:pt idx="4">
                <c:v>Learned MLP</c:v>
              </c:pt>
            </c:strLit>
          </c:cat>
          <c:val>
            <c:numLit>
              <c:formatCode>0.000</c:formatCode>
              <c:ptCount val="5"/>
              <c:pt idx="0">
                <c:v>13.4156</c:v>
              </c:pt>
              <c:pt idx="1">
                <c:v>31.5561</c:v>
              </c:pt>
              <c:pt idx="2">
                <c:v>27.4069</c:v>
              </c:pt>
              <c:pt idx="3">
                <c:v>24.6935</c:v>
              </c:pt>
              <c:pt idx="4">
                <c:v>32.7942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C6670"/>
                    </a:solidFill>
                  </a:rPr>
                  <a:t>nDCG@10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C667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nDCG@10 (%)</c:v>
          </c:tx>
          <c:spPr>
            <a:solidFill xmlns:a="http://schemas.openxmlformats.org/drawingml/2006/main">
              <a:srgbClr val="6DCBF4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2"/>
              <c:pt idx="0">
                <c:v>100 shuffled controls</c:v>
              </c:pt>
              <c:pt idx="1">
                <c:v>Correctly aligned image</c:v>
              </c:pt>
            </c:strLit>
          </c:cat>
          <c:val>
            <c:numLit>
              <c:formatCode>0.000</c:formatCode>
              <c:ptCount val="2"/>
              <c:pt idx="0">
                <c:v>22.037</c:v>
              </c:pt>
              <c:pt idx="1">
                <c:v>32.7942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C6670"/>
                    </a:solidFill>
                  </a:rPr>
                  <a:t>nDCG@10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C667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Token-F1 (%)</c:v>
          </c:tx>
          <c:spPr>
            <a:solidFill xmlns:a="http://schemas.openxmlformats.org/drawingml/2006/main">
              <a:srgbClr val="6DCBF4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4"/>
              <c:pt idx="0">
                <c:v>G0 no retrieval</c:v>
              </c:pt>
              <c:pt idx="1">
                <c:v>G1 BM25 RAG</c:v>
              </c:pt>
              <c:pt idx="2">
                <c:v>G2 fixed MM RAG</c:v>
              </c:pt>
              <c:pt idx="3">
                <c:v>G3 learned MM RAG</c:v>
              </c:pt>
            </c:strLit>
          </c:cat>
          <c:val>
            <c:numLit>
              <c:formatCode>0.000</c:formatCode>
              <c:ptCount val="4"/>
              <c:pt idx="0">
                <c:v>14.5559</c:v>
              </c:pt>
              <c:pt idx="1">
                <c:v>14.7947</c:v>
              </c:pt>
              <c:pt idx="2">
                <c:v>17.909</c:v>
              </c:pt>
              <c:pt idx="3">
                <c:v>18.4803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C6670"/>
                    </a:solidFill>
                  </a:rPr>
                  <a:t>Token-F1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C667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C66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A28E2202-6A73-4358-8A28-7CD8678D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f5e67129a4789"/>
          <a:srcRect xmlns:a="http://schemas.openxmlformats.org/drawingml/2006/main" l="3874" t="0" r="38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box">
            <a:extLst xmlns:a="http://schemas.openxmlformats.org/drawingml/2006/main">
              <a:ext uri="{FF2B5EF4-FFF2-40B4-BE49-F238E27FC236}">
                <a16:creationId xmlns:a16="http://schemas.microsoft.com/office/drawing/2014/main" id="{CD52B12B-A847-41F6-8AAA-EFA237B3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8A0699-A81F-4B94-AFC3-A8DC2043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MASTER OF ARTIFICIAL INTELLIGENCE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47322E3-C53C-464B-9559-B73FCFDC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5905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Retrieval-Augmented</a:t>
            </a:r>
          </a:p>
          <a:p xmlns:a="http://schemas.openxmlformats.org/drawingml/2006/main">
            <a:pPr algn="l">
              <a:defRPr sz="36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Medical Question Answering</a:t>
            </a:r>
          </a:p>
          <a:p xmlns:a="http://schemas.openxmlformats.org/drawingml/2006/main">
            <a:pPr algn="l">
              <a:defRPr sz="36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over Paired Radiology</a:t>
            </a:r>
          </a:p>
          <a:p xmlns:a="http://schemas.openxmlformats.org/drawingml/2006/main">
            <a:pPr algn="l">
              <a:defRPr sz="36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Images and Reports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689D3B3-8FCD-4BB7-BC5C-7C300033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Yue | 22097191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0243F4-5FAB-414D-BCD8-FF3BAE91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Final V9 study and system demonstration</a:t>
            </a:r>
          </a:p>
        </p:txBody>
      </p:sp>
    </p:spTree>
    <p:extLst>
      <p:ext uri="{BB962C8B-B14F-4D97-AF65-F5344CB8AC3E}">
        <p14:creationId xmlns:p14="http://schemas.microsoft.com/office/powerpoint/2010/main" val="9778417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7CE675E0-1D96-44C5-AA6D-52FEB426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6B5D4C-CACD-4D95-BB43-49B8E11F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task is evidence retrieval for a new patient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4B259BE-DC30-47D9-8CC2-3AF70E1E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FB9DCE-724C-45AF-A37B-E262EB59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Available at inference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C2B018-A7E7-4267-B1AB-CBB871C6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7AECA31-F87B-49C9-BDEB-C6CACDA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Target chest radiograph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86D1DF-5B90-46C3-86E0-2FBD2115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The image being interpreted belongs to the new case.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85F571-2390-40C8-8F22-E80C7636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6CF2FB-1273-493C-A311-0042B967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Clinical indication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8B8FDDD-0CC9-4C3A-B99D-A1D1CAE5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Pre-report clinical context, not the hidden reference report.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B957792-6036-4F7F-A233-26A7F75A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DE6E1DA-853F-4E00-9610-7876EC03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Medical question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C93335-3193-4FED-940A-D9F1D057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A findings or impression question to be answered.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171E956-7176-4D22-B84D-E0C850AB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57350"/>
            <a:ext cx="5619750" cy="3905250"/>
          </a:xfrm>
          <a:prstGeom xmlns:a="http://schemas.openxmlformats.org/drawingml/2006/main" prst="roundRect">
            <a:avLst>
              <a:gd name="adj" fmla="val 97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B4998A1-39A1-4603-900A-70563CC1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8404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84040"/>
                </a:solidFill>
                <a:latin typeface="Arial"/>
                <a:ea typeface="Arial"/>
                <a:cs typeface="Arial"/>
              </a:rPr>
              <a:t>Hidden during inference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250820D-2366-4E5E-B7A0-436FCD58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Target report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AFDD731-4163-47F8-9D84-A8A79FD1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Used only after generation for offline retrieval relevance and report-reference QA scoring.</a:t>
            </a:r>
          </a:p>
        </p:txBody>
      </p:sp>
      <p:cxnSp>
        <p:nvCxnSpPr>
          <p:cNvPr id="40" name="rule"/>
          <p:cNvCxnSpPr/>
          <p:nvPr/>
        </p:nvCxnSpPr>
        <p:spPr>
          <a:xfrm xmlns:a="http://schemas.openxmlformats.org/drawingml/2006/main">
            <a:off x="6191250" y="424815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B415E44-71E3-4698-BA9A-361AE2C9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33900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Retrieved reports come from other cases and are labelled as historical analogies, not proof about the target patient.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D285F2F-BD8D-4BDC-902C-69EFD55B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5312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This framing removes the closed-set shortcut that dominated the preliminary studies.</a:t>
            </a:r>
          </a:p>
        </p:txBody>
      </p:sp>
    </p:spTree>
    <p:extLst>
      <p:ext uri="{BB962C8B-B14F-4D97-AF65-F5344CB8AC3E}">
        <p14:creationId xmlns:p14="http://schemas.microsoft.com/office/powerpoint/2010/main" val="1961015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4D5E87C6-7FB6-4885-A2E5-5914CFF0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54D81C-7D49-4949-A1A1-42C0F99D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research question is now clinically coherent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04E4CB9-EA1B-4923-8DDF-8A86E9E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28EFDF6-464E-4303-A96E-8266235F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1104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Can aligned image information improve retrieval of clinically similar historical cases and, in turn, improve report-reference-consistent answers?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37DB32-ED7D-4530-9A6A-80F3C251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194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91D4A6-C0BD-409C-A08E-D439D37B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19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5FBA1E-B9D9-42FB-A427-3C2F53B6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1947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Does learned multimodal retrieval improve graded relevance over the strongest frozen component?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087E9A-07DD-48B9-9BE8-9FC17CEA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94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D3D41E-ECBA-4CD1-91A8-B4C7A3BE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19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Alignment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9135819-ED10-49F9-898A-86B58357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1947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Does the gain depend on the correct target image rather than arbitrary image content?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FF3C54E-EE3C-4FC8-B77F-F5DE307B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958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270C684-0601-4E21-8E54-30B50ACB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QA transfer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E65339B-7C90-41AF-80BA-BC22AE8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Does better retrieved evidence improve MedGemma answers over no retrieval?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909C880-6F40-4363-945A-D02E4B1D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RQ4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E4D6F44-0D13-4F72-963A-C62229F0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95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Agent control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64EA347-7652-42E9-A3F5-B431EEAF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95850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Can a bounded agent suppress unsupported historical-support claims?</a:t>
            </a:r>
          </a:p>
        </p:txBody>
      </p:sp>
    </p:spTree>
    <p:extLst>
      <p:ext uri="{BB962C8B-B14F-4D97-AF65-F5344CB8AC3E}">
        <p14:creationId xmlns:p14="http://schemas.microsoft.com/office/powerpoint/2010/main" val="863395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60BCEDE1-1256-4504-87F8-2C791987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A90755-F450-405E-81E0-2A2E7EA5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V5-V8 identified the shortcut; V9 changed the task</a:t>
            </a:r>
          </a:p>
        </p:txBody>
      </p:sp>
      <p:cxnSp>
        <p:nvCxnSpPr>
          <p:cNvPr id="30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D3A4F91-456A-4111-84BF-CF553BB9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666750" y="333375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0"/>
            </a:solidFill>
            <a:prstDash val="solid"/>
          </a:ln>
        </p:spPr>
      </p:cxn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918A8943-0F32-4032-B597-606B9ED6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19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551AEA2-B93C-4D1C-B798-8C276B7A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6428A84-A576-4F84-8E33-1AFE3452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Closed-set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25ADEF-8177-4EA9-B536-DDCCC8D3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05275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Correct image improved target-report reranking and QA.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B8C463BA-E884-4B8C-B487-F002EC7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19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76FC625-531F-438A-8A57-6B16A8A0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062E58-BC3D-4CB5-AA31-611113DB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05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Modernized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6F5354-CE63-44CB-8DC2-86E5F9E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105275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MedSigLIP and MedGemma replicated alignment-specific gains.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7A3861D0-610B-4986-8B24-60658C3D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19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F4272A8-E910-4D5D-969D-AF7D01BF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V7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614EB5F-95AD-4213-98DB-F0EF7CEE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05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Adaptive fusion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0322A00-45EB-4913-8ABD-D1348141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05275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Query-conditional alpha did not beat global alpha; mixed result retained.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043FEF7F-7A71-4A63-94A0-199A0144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19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2C836F4-3338-4AC3-95FE-8B7D4AAB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V8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E890CB3-60C2-4300-9FC3-25F10371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05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External gate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A659B34-DE1C-463F-8A2D-EB525B6B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05275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CheXpert Plus local subset was too small; prespecified no-go.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2B6DF0B1-3F18-4F07-BDC2-BD425AD2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194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AF7ECE8-ED1D-453E-8164-22DE3A3A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76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V9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33D0C75-A3F4-46CE-B3F6-720B7938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052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Final task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EBA0262-0539-4BE3-BD89-9CDCC6C4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05275"/>
            <a:ext cx="2000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New-patient image plus other-case historical evidence.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B48531D1-B89D-4773-B2AA-09657DEB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62600"/>
            <a:ext cx="110490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42A93FF-073A-46A0-807E-D4CE8912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V9 is the primary final study. Earlier versions remain preliminary evidence and are not re-tuned.</a:t>
            </a:r>
          </a:p>
        </p:txBody>
      </p:sp>
    </p:spTree>
    <p:extLst>
      <p:ext uri="{BB962C8B-B14F-4D97-AF65-F5344CB8AC3E}">
        <p14:creationId xmlns:p14="http://schemas.microsoft.com/office/powerpoint/2010/main" val="1877438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E28316A6-5F9C-4680-A39F-FD78B9CE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5E04D87-657A-469B-994E-77081459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complete source was reallocated before modelling</a:t>
            </a:r>
          </a:p>
        </p:txBody>
      </p:sp>
      <p:cxnSp>
        <p:nvCxnSpPr>
          <p:cNvPr id="33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874FCDA-B279-419F-A842-C97626FD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35" name="rule"/>
          <p:cNvCxnSpPr/>
          <p:nvPr/>
        </p:nvCxnSpPr>
        <p:spPr>
          <a:xfrm xmlns:a="http://schemas.openxmlformats.org/drawingml/2006/main">
            <a:off x="438150" y="17145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F51B1DC-EB37-4731-B533-EFF9DB1F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3,851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89BFAF-FC20-45A8-89B5-2FAA038D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OpenI source cases</a:t>
            </a:r>
          </a:p>
        </p:txBody>
      </p:sp>
      <p:cxnSp>
        <p:nvCxnSpPr>
          <p:cNvPr id="38" name="rule"/>
          <p:cNvCxnSpPr/>
          <p:nvPr/>
        </p:nvCxnSpPr>
        <p:spPr>
          <a:xfrm xmlns:a="http://schemas.openxmlformats.org/drawingml/2006/main">
            <a:off x="3238500" y="17145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27FFF4-2E40-4A84-9089-E9C36579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907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3,759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588446-35E5-4B70-986C-B2FA9640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Primary stratifiable cases</a:t>
            </a:r>
          </a:p>
        </p:txBody>
      </p:sp>
      <p:cxnSp>
        <p:nvCxnSpPr>
          <p:cNvPr id="41" name="rule"/>
          <p:cNvCxnSpPr/>
          <p:nvPr/>
        </p:nvCxnSpPr>
        <p:spPr>
          <a:xfrm xmlns:a="http://schemas.openxmlformats.org/drawingml/2006/main">
            <a:off x="6038850" y="17145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856B"/>
            </a:solidFill>
            <a:prstDash val="solid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DBAF898-1870-4E3C-B6E5-5E76D54F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2,608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1F8E498-E178-412C-A5F8-F3181A6E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Report-bearing Train bank</a:t>
            </a:r>
          </a:p>
        </p:txBody>
      </p:sp>
      <p:cxnSp>
        <p:nvCxnSpPr>
          <p:cNvPr id="44" name="rule"/>
          <p:cNvCxnSpPr/>
          <p:nvPr/>
        </p:nvCxnSpPr>
        <p:spPr>
          <a:xfrm xmlns:a="http://schemas.openxmlformats.org/drawingml/2006/main">
            <a:off x="8839200" y="17145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856B"/>
            </a:solidFill>
            <a:prstDash val="solid"/>
          </a:ln>
        </p:spPr>
      </p:cxn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6FFC776-F998-4851-BBE8-E67F0F17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907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752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EE3082C-A776-4F76-8893-0C841BE5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955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Untouched Test cases</a:t>
            </a:r>
          </a:p>
        </p:txBody>
      </p:sp>
      <p:cxnSp>
        <p:nvCxnSpPr>
          <p:cNvPr id="47" name="rule"/>
          <p:cNvCxnSpPr/>
          <p:nvPr/>
        </p:nvCxnSpPr>
        <p:spPr>
          <a:xfrm xmlns:a="http://schemas.openxmlformats.org/drawingml/2006/main">
            <a:off x="438150" y="3714750"/>
            <a:ext cx="10991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9152A887-800E-45FF-993E-2B54B91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05275"/>
            <a:ext cx="3333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795E8AB-E87D-4EDA-99BD-A899987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7672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8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F3EAAC6-1996-4BF1-BF16-490B93C6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0057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Train: 2,631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8EA051-33BF-4DBE-BF5C-3B5BF7DA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5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Reranker training and the historical evidence bank.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BD7CA344-5A36-4FBD-803E-9C2611DC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33337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F982558-5BB1-4096-BDAF-8784DB4A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8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2F06AFA-3177-4689-ABB5-16FE98E8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0057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Validation: 376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E3948E0-E9F1-4835-B45A-6375F5BE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1967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Checkpoint and decision selection only.</a:t>
            </a:r>
          </a:p>
        </p:txBody>
      </p:sp>
      <p:sp>
        <p:nvSpPr>
          <p:cNvPr id="26" name="box">
            <a:extLst xmlns:a="http://schemas.openxmlformats.org/drawingml/2006/main">
              <a:ext uri="{FF2B5EF4-FFF2-40B4-BE49-F238E27FC236}">
                <a16:creationId xmlns:a16="http://schemas.microsoft.com/office/drawing/2014/main" id="{91B2D442-773F-4327-B920-20C3B03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05275"/>
            <a:ext cx="302895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8332EC4-8DC6-44F4-B551-7E7CFFFF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7672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78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5E8C9A1-FC7F-41FE-A11B-4366F28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005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Test: 752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053FEA2-552D-48E8-A417-C256D6D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196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One frozen confirmation evaluation.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2805629-3016-43F5-B58C-7CF07F70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Primary split and fixed artifacts are deterministic; no V9 outcome changed a case, prompt, threshold, or metric.</a:t>
            </a:r>
          </a:p>
        </p:txBody>
      </p:sp>
    </p:spTree>
    <p:extLst>
      <p:ext uri="{BB962C8B-B14F-4D97-AF65-F5344CB8AC3E}">
        <p14:creationId xmlns:p14="http://schemas.microsoft.com/office/powerpoint/2010/main" val="2006682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792F1A14-DE43-47AF-A322-06CDE210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FADED27-DE2A-42E2-BABE-52BC9A9A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Target and historical evidence stay separate</a:t>
            </a:r>
          </a:p>
        </p:txBody>
      </p:sp>
      <p:cxnSp>
        <p:nvCxnSpPr>
          <p:cNvPr id="33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29199D7-8DBC-4D4C-B535-E18B6B01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35" name="rule"/>
          <p:cNvCxnSpPr/>
          <p:nvPr/>
        </p:nvCxnSpPr>
        <p:spPr>
          <a:xfrm xmlns:a="http://schemas.openxmlformats.org/drawingml/2006/main">
            <a:off x="2266950" y="32385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36" name="rule"/>
          <p:cNvCxnSpPr/>
          <p:nvPr/>
        </p:nvCxnSpPr>
        <p:spPr>
          <a:xfrm xmlns:a="http://schemas.openxmlformats.org/drawingml/2006/main">
            <a:off x="4381500" y="32385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37" name="rule"/>
          <p:cNvCxnSpPr/>
          <p:nvPr/>
        </p:nvCxnSpPr>
        <p:spPr>
          <a:xfrm xmlns:a="http://schemas.openxmlformats.org/drawingml/2006/main">
            <a:off x="6496050" y="32385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cxnSp>
        <p:nvCxnSpPr>
          <p:cNvPr id="38" name="rule"/>
          <p:cNvCxnSpPr/>
          <p:nvPr/>
        </p:nvCxnSpPr>
        <p:spPr>
          <a:xfrm xmlns:a="http://schemas.openxmlformats.org/drawingml/2006/main">
            <a:off x="8610600" y="32385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222F30E-DC0A-4FC5-B456-A6153D7D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8097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9634F5-82EF-4301-A4B1-ACF774A9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E9B30E6-AE94-4630-BA93-4B040659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Target inputs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32A534-A619-4322-A1A6-ACE3824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Image + indication + question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CAEC0740-8134-4ADA-8F30-E612DC7F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8097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5C698A3-13EB-4E32-9356-5D1A90D4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62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2988B00-1061-4664-A989-9AF311FE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Shortlist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BCEDE8E-2CA4-461E-A832-6FCB2D62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BM25 over 2,608 other-case reports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DA6C9031-AA5D-45BB-B934-8942D348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81250"/>
            <a:ext cx="18097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34DF8E2-E314-4ABB-81F3-8D4F2F76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62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9CBB7DD-2658-4C5A-BD40-EFE08846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Learned reranker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568EA4B-E3A7-46D5-A6BF-9195768A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9 features -&gt; 32 -&gt; 16 -&gt; 1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AE29CC08-887F-49D8-A4DA-32CA4C38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18097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AACB1EA-51B3-446A-AEE3-B2F354F7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62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A36DAC5-3864-487A-8DB7-E5205B6B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527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36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MedGemma QA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C10D26D-723D-488E-9A9E-CDAA3CA5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Target answer + labelled analogies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C15092C9-6AE1-44D5-B449-6EBAC78E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18097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6A4702C-7036-4F97-8029-4BA8AA83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62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06464C1-46EF-4E03-9736-C1CECFE8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5275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583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Bounded audit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3071380-0578-4E9A-BE45-32571A48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916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One retry or remove unsupported support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D53D806-E156-41BD-84C3-B3547DB3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hidden target report is absent from every inference stage.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C53BDAC-FD3B-4AE5-A14E-08F84D0B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It appears only in offline qrels and QA reference scoring after the answer is produced.</a:t>
            </a:r>
          </a:p>
        </p:txBody>
      </p:sp>
    </p:spTree>
    <p:extLst>
      <p:ext uri="{BB962C8B-B14F-4D97-AF65-F5344CB8AC3E}">
        <p14:creationId xmlns:p14="http://schemas.microsoft.com/office/powerpoint/2010/main" val="401194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">
            <a:extLst xmlns:a="http://schemas.openxmlformats.org/drawingml/2006/main">
              <a:ext uri="{FF2B5EF4-FFF2-40B4-BE49-F238E27FC236}">
                <a16:creationId xmlns:a16="http://schemas.microsoft.com/office/drawing/2014/main" id="{431567DC-D41D-4F9F-8B52-BC1FCEFA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46B0B2-F796-40A5-BC06-C7D2C42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Five retrieval systems isolate the value of each modality</a:t>
            </a:r>
          </a:p>
        </p:txBody>
      </p:sp>
      <p:cxnSp>
        <p:nvCxnSpPr>
          <p:cNvPr id="32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5A5544D-2C7C-4604-BB37-56F5A835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048347-5ED7-40FA-ACAA-C9941E8F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37D436-A8B0-43AE-8CA2-DF9B482D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049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F31FA9-F9B7-4A4C-9AA6-892852B8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Indication + question -&gt; report text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09BA992-7D82-4B18-9AA3-CAA3D11C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240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Text baseline</a:t>
            </a:r>
          </a:p>
        </p:txBody>
      </p:sp>
      <p:cxnSp>
        <p:nvCxnSpPr>
          <p:cNvPr id="38" name="rule"/>
          <p:cNvCxnSpPr/>
          <p:nvPr/>
        </p:nvCxnSpPr>
        <p:spPr>
          <a:xfrm xmlns:a="http://schemas.openxmlformats.org/drawingml/2006/main">
            <a:off x="457200" y="21336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DE1E5"/>
            </a:solidFill>
            <a:prstDash val="solid"/>
          </a:ln>
        </p:spPr>
      </p:cxn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4D93A3-103A-4541-8F80-D47B6FC5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2B99536-68ED-4CE5-B846-D4319777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Image-image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E7F4003-8781-4EC5-A514-C72B1FEC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Target image -&gt; historical image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387CEE0-800F-4A17-9BB3-FC23CC61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57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Strongest frozen component</a:t>
            </a:r>
          </a:p>
        </p:txBody>
      </p:sp>
      <p:cxnSp>
        <p:nvCxnSpPr>
          <p:cNvPr id="43" name="rule"/>
          <p:cNvCxnSpPr/>
          <p:nvPr/>
        </p:nvCxnSpPr>
        <p:spPr>
          <a:xfrm xmlns:a="http://schemas.openxmlformats.org/drawingml/2006/main">
            <a:off x="457200" y="30670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DE1E5"/>
            </a:solidFill>
            <a:prstDash val="solid"/>
          </a:ln>
        </p:spPr>
      </p:cxn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23713C1-AE05-4307-B569-CB01A861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0AD66AF-5295-48F1-95D2-B0629310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Image-report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143C3DA-0A62-48D7-95BE-A9664D50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Target image -&gt; report chunks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E522722-6213-4082-A91F-ED80FF02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909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Cross-modal diagnostic</a:t>
            </a:r>
          </a:p>
        </p:txBody>
      </p:sp>
      <p:cxnSp>
        <p:nvCxnSpPr>
          <p:cNvPr id="48" name="rule"/>
          <p:cNvCxnSpPr/>
          <p:nvPr/>
        </p:nvCxnSpPr>
        <p:spPr>
          <a:xfrm xmlns:a="http://schemas.openxmlformats.org/drawingml/2006/main">
            <a:off x="457200" y="40005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DE1E5"/>
            </a:solidFill>
            <a:prstDash val="solid"/>
          </a:ln>
        </p:spPr>
      </p:cxn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68466EC-CD87-458A-B0A2-A9D64D58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713AD34-6956-41C3-8E8F-25A6490B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Fixed multimodal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BEB0719-7F75-4546-99ED-2BB6F8EC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243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Predefined score fusion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823AC5C-FA1D-4A01-BA9F-FC9E4433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 learned parameters</a:t>
            </a:r>
          </a:p>
        </p:txBody>
      </p:sp>
      <p:cxnSp>
        <p:nvCxnSpPr>
          <p:cNvPr id="53" name="rule"/>
          <p:cNvCxnSpPr/>
          <p:nvPr/>
        </p:nvCxnSpPr>
        <p:spPr>
          <a:xfrm xmlns:a="http://schemas.openxmlformats.org/drawingml/2006/main">
            <a:off x="457200" y="493395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DE1E5"/>
            </a:solidFill>
            <a:prstDash val="solid"/>
          </a:ln>
        </p:spPr>
      </p:cxn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DF193D4-4DC5-47A1-94C6-B1D46AA6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07FD6CC-5599-4B04-9EE6-A336F86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Learned MLP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E7D6C76-089A-4028-90E4-737B46AD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Candidate-level 9-feature reranking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536946C-274C-419C-93DA-A6244DBA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Primary model</a:t>
            </a:r>
          </a:p>
        </p:txBody>
      </p:sp>
      <p:cxnSp>
        <p:nvCxnSpPr>
          <p:cNvPr id="58" name="rule"/>
          <p:cNvCxnSpPr/>
          <p:nvPr/>
        </p:nvCxnSpPr>
        <p:spPr>
          <a:xfrm xmlns:a="http://schemas.openxmlformats.org/drawingml/2006/main">
            <a:off x="457200" y="5867400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DE1E5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35373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5315C783-A2F2-4868-9169-48D03AC6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3CECB0-7754-4F3D-84B9-712E8269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only trained model has 865 parameters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F0E6BC8-B29D-4D68-B342-DC90FB98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1EF5EC22-8E8E-475D-8961-1A8872B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7048500" cy="400050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91B1BB-9D31-4BB5-B032-D3A375CC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Candidate feature vector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3675F4-2842-48E0-80C0-0C0372E9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01  BM25 score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B47910C-7A34-41D0-A243-39F2EB32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717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02  image-image score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B07CC36-96D9-4D7F-BE7A-B7DF62E4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03  image-report score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5C69AF3-0D65-42D5-A48B-0511E3C3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384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04  rank features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2A0E57-E291-43E1-93E2-907E6C81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05  score gaps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2866B7-78FA-4882-9AD6-25BE3C6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06  cross-modal agreement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F46DF0-5D01-4373-971D-0B0E39B5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07  query state</a:t>
            </a:r>
          </a:p>
        </p:txBody>
      </p:sp>
      <p:cxnSp>
        <p:nvCxnSpPr>
          <p:cNvPr id="35" name="rule"/>
          <p:cNvCxnSpPr/>
          <p:nvPr/>
        </p:nvCxnSpPr>
        <p:spPr>
          <a:xfrm xmlns:a="http://schemas.openxmlformats.org/drawingml/2006/main">
            <a:off x="7962900" y="2381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787E3C2F-D7F6-40FA-90F0-9F833E8B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476500" cy="119062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FBDE76E-3CA6-4091-B8BB-58A1C66D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6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9 -&gt; 32 -&gt; 16 -&gt; 1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5712886-2301-4746-8779-CF2230EE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MLP reranker</a:t>
            </a:r>
          </a:p>
        </p:txBody>
      </p:sp>
      <p:cxnSp>
        <p:nvCxnSpPr>
          <p:cNvPr id="39" name="rule"/>
          <p:cNvCxnSpPr/>
          <p:nvPr/>
        </p:nvCxnSpPr>
        <p:spPr>
          <a:xfrm xmlns:a="http://schemas.openxmlformats.org/drawingml/2006/main">
            <a:off x="8058150" y="363855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856B"/>
            </a:solidFill>
            <a:prstDash val="solid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71001DE-AFFA-4974-B227-09F78B18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307,176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B64F5DF-75E3-4305-8F44-4E71008C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weighted training pairs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4FDCFC0-8A39-4C19-AD63-82C79CB3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MedSigLIP and MedGemma remained frozen.</a:t>
            </a:r>
          </a:p>
        </p:txBody>
      </p:sp>
    </p:spTree>
    <p:extLst>
      <p:ext uri="{BB962C8B-B14F-4D97-AF65-F5344CB8AC3E}">
        <p14:creationId xmlns:p14="http://schemas.microsoft.com/office/powerpoint/2010/main" val="1231235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E462DB90-3FAE-4873-9FA2-1A166208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3A491D-0151-40B3-AC7B-6DA2E872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Evaluation uses graded similarity, not self-retrieval</a:t>
            </a:r>
          </a:p>
        </p:txBody>
      </p:sp>
      <p:cxnSp>
        <p:nvCxnSpPr>
          <p:cNvPr id="27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350FFF4-993A-4075-8BFE-64A6A81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C2DD26-E7C2-4C15-B923-71FB5354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Primary retrieval metrics</a:t>
            </a:r>
          </a:p>
        </p:txBody>
      </p:sp>
      <p:cxnSp>
        <p:nvCxnSpPr>
          <p:cNvPr id="30" name="rule"/>
          <p:cNvCxnSpPr/>
          <p:nvPr/>
        </p:nvCxnSpPr>
        <p:spPr>
          <a:xfrm xmlns:a="http://schemas.openxmlformats.org/drawingml/2006/main">
            <a:off x="457200" y="2143125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9144B7-A0D1-4714-B797-90F2D8F1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193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nDCG@10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16E71B-2579-46B6-B314-ED16BF43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graded ranking quality</a:t>
            </a:r>
          </a:p>
        </p:txBody>
      </p:sp>
      <p:cxnSp>
        <p:nvCxnSpPr>
          <p:cNvPr id="33" name="rule"/>
          <p:cNvCxnSpPr/>
          <p:nvPr/>
        </p:nvCxnSpPr>
        <p:spPr>
          <a:xfrm xmlns:a="http://schemas.openxmlformats.org/drawingml/2006/main">
            <a:off x="3695700" y="2143125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D2A5F7A-4121-4C57-B6A9-2B1BE39D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1932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MRR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2E2E3E3-F4DC-4244-91CD-5A6CCE55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241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first relevant rank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3E1317-6731-4D44-99EF-F8FBB43B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Relevance evidence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61F027B-E37A-403C-97FC-A7415E04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C7463E-2A6C-44EF-8AF3-9142221B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Report labels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B75C2F-9C31-4425-8DC7-6C837A54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CheXpert-style overlap and report-derived findings.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45BF2F5-39A2-4E47-9574-3D1F898D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004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FA46B3-4B47-4810-8619-0A090289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RadGraph facts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6169A9A-505A-4A5A-9546-88D7B623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623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Entity and relation agreement in historical reports.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C4DDBB2-B38C-4AE7-80B0-7CF89D82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7E52247-CB58-4F08-BE3E-5218501B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672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Image similarity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506E2AB-677E-40D0-A9BF-C0212616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29150"/>
            <a:ext cx="421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Frozen MedSigLIP similarity for target and candidate images.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623D79CA-D527-4365-9B73-709DE371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619750" cy="8763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D8237E5-AF4E-4AF1-BA4B-C868443B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519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5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Primary comparison: R4 learned MLP vs R1 image-image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F6D5A70-1D7A-44FD-B9B2-2C143535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092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752 Test cases; case-grouped bootstrap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1869750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CD921E77-230F-481E-AA78-39B63996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26097E-A763-4EE7-A28C-2772E457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Learned fusion produced the best retrieval ranking</a:t>
            </a:r>
          </a:p>
        </p:txBody>
      </p:sp>
      <p:cxnSp>
        <p:nvCxnSpPr>
          <p:cNvPr id="18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2061217-1599-43EC-BDBF-929E5A7A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8E6650-C16D-46FE-BAAE-B48F2318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71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nDCG@10 (%)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7239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8bfa3b6ce946db"/>
          </a:graphicData>
        </a:graphic>
      </p:graphicFrame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6DEB0430-466B-4993-99BC-45F25FC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00400" cy="17907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BB60130-2976-4573-AAFE-23508E63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+0.0124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2B68BE-679A-4BBC-BEF7-5BF6DFBE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71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R4 - R1 nDCG@10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660C9F6-8038-4293-9184-BBFDEE3D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337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95% CI [+0.0092, +0.0156]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748529-0B14-4C81-9C5C-2FFE00DE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MRR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CE2A92-6685-415B-8CFD-799C9195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33875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0.332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9BC647-54C4-4BD1-8608-DB453D50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Learned MLP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570E7B4-305F-48D0-A2B5-6EC45568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33875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0.328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E85FAE8-A347-41B2-98C1-4A161878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53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Image-image</a:t>
            </a:r>
          </a:p>
        </p:txBody>
      </p:sp>
    </p:spTree>
    <p:extLst>
      <p:ext uri="{BB962C8B-B14F-4D97-AF65-F5344CB8AC3E}">
        <p14:creationId xmlns:p14="http://schemas.microsoft.com/office/powerpoint/2010/main" val="6589363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2BBDAD25-C08F-4BFD-982E-79C04C1F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A7B77A-810C-4ACA-8BD6-56B70C1C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retrieval gain depends on the correct image</a:t>
            </a:r>
          </a:p>
        </p:txBody>
      </p:sp>
      <p:cxnSp>
        <p:nvCxnSpPr>
          <p:cNvPr id="16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5C5F3DC-EF96-406E-8FE4-02CF4A5A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7882C8E-B6A7-4DE2-B20A-99ADA514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nDCG@10 (%)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6477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74df2e0c344797"/>
          </a:graphicData>
        </a:graphic>
      </p:graphicFrame>
      <p:cxnSp>
        <p:nvCxnSpPr>
          <p:cNvPr id="20" name="rule"/>
          <p:cNvCxnSpPr/>
          <p:nvPr/>
        </p:nvCxnSpPr>
        <p:spPr>
          <a:xfrm xmlns:a="http://schemas.openxmlformats.org/drawingml/2006/main">
            <a:off x="7810500" y="188595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856B"/>
            </a:solidFill>
            <a:prstDash val="solid"/>
          </a:ln>
        </p:spPr>
      </p:cxn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6CD2ED-A8C8-4F75-9AC0-AB97BFB9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100/100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2ACDC6D-B4C8-4FB7-A141-44AE1C1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shuffled assignments below aligned</a:t>
            </a:r>
          </a:p>
        </p:txBody>
      </p:sp>
      <p:cxnSp>
        <p:nvCxnSpPr>
          <p:cNvPr id="23" name="rule"/>
          <p:cNvCxnSpPr/>
          <p:nvPr/>
        </p:nvCxnSpPr>
        <p:spPr>
          <a:xfrm xmlns:a="http://schemas.openxmlformats.org/drawingml/2006/main">
            <a:off x="7810500" y="371475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856B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0BBEAF-FF32-4216-B25D-FBFB353A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p = .0099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3A55E8C-7A66-44E6-A066-4DE04339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958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plus-one Monte Carlo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C9598A-AFA6-4E38-8AD4-686918E5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31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The control recomputed the full visual state for each fixed-point-free assignment.</a:t>
            </a:r>
          </a:p>
        </p:txBody>
      </p:sp>
    </p:spTree>
    <p:extLst>
      <p:ext uri="{BB962C8B-B14F-4D97-AF65-F5344CB8AC3E}">
        <p14:creationId xmlns:p14="http://schemas.microsoft.com/office/powerpoint/2010/main" val="15932388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2E140A12-BDBD-4A4C-B8D5-3AF59182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7FAC0E-1F46-4C61-B4CE-5FA4925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Retrieval gains transfer to downstream QA</a:t>
            </a:r>
          </a:p>
        </p:txBody>
      </p:sp>
      <p:cxnSp>
        <p:nvCxnSpPr>
          <p:cNvPr id="15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F7B54C0-ED5E-45EB-AD99-F5E3396A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658BC5-2DA7-42C6-8C41-5BC9821D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716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Token-F1 (%)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7239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56803a4e734fe6"/>
          </a:graphicData>
        </a:graphic>
      </p:graphicFrame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19055C0D-AAD1-419E-80F6-99DD262F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95450"/>
            <a:ext cx="3219450" cy="17526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8C2831-BAB7-4BC6-BC6C-EDA4F21F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61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+0.0392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6227D7E-A57A-403F-8B2A-C94E4BD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G3 - G0 Token-F1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D968066-21C7-497F-8DD4-6C7CB53E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67050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95% CI [+0.0326, +0.0457]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0713DE8-8E33-4B2A-BE89-3386EABC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321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G3 exceeded G2 by +0.0057, but its 95% CI crossed zero.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720B2DE-C3D7-4C68-83FB-5BA0218D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05375"/>
            <a:ext cx="321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Claim: learned multimodal RAG beats no retrieval. No confirmed QA superiority over fixed multimodal RAG.</a:t>
            </a:r>
          </a:p>
        </p:txBody>
      </p:sp>
    </p:spTree>
    <p:extLst>
      <p:ext uri="{BB962C8B-B14F-4D97-AF65-F5344CB8AC3E}">
        <p14:creationId xmlns:p14="http://schemas.microsoft.com/office/powerpoint/2010/main" val="12882468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">
            <a:extLst xmlns:a="http://schemas.openxmlformats.org/drawingml/2006/main">
              <a:ext uri="{FF2B5EF4-FFF2-40B4-BE49-F238E27FC236}">
                <a16:creationId xmlns:a16="http://schemas.microsoft.com/office/drawing/2014/main" id="{3A681859-2704-4C60-8F86-0FA869FD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106950-15B5-45BF-84D8-EB8E2C68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bounded agent controls historical claims</a:t>
            </a:r>
          </a:p>
        </p:txBody>
      </p:sp>
      <p:cxnSp>
        <p:nvCxnSpPr>
          <p:cNvPr id="36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F259E83-09A4-4136-BC57-7E55878A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68F34F52-220B-4CD3-B977-4E03BFA2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22860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91E7C81-7C18-426C-B0F5-7F0BF454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5A196D-7344-44CA-8750-8112752B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ED89A8-9575-4E19-9020-880C0449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Target answer plus optional historical support.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6DECC426-6CE3-46DA-B188-C84426FE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2860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77F19F5-65C4-4DC5-852E-5CABDA5F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335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8DB5409-5640-456C-9959-2D2FE9D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2574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66F1EAA-F42B-4A18-95CF-DD50E26D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765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Check only the claim attributed to retrieved reports.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2A24FB8A-FDCC-4429-9E41-381D1F21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22860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47FE0B4-E594-4250-A19B-040F546E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335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D2D8121-F095-44A3-BF50-E5D2434A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574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Retry once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6B638B-0CD2-42D3-BABA-76F7F80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765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Use a backup route under the same frozen policy.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318A013C-B8BC-4095-A48A-38944B0F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286000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4C68C25-9A33-4DC4-857E-32776A3D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933575"/>
            <a:ext cx="495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FCB18C9-D29F-4BE7-A765-9B962B79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574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Abstain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6B12EE8-8766-454D-9474-7484E208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7652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Remove unsupported historical support; keep target answer.</a:t>
            </a:r>
          </a:p>
        </p:txBody>
      </p:sp>
      <p:cxnSp>
        <p:nvCxnSpPr>
          <p:cNvPr id="54" name="rule"/>
          <p:cNvCxnSpPr/>
          <p:nvPr/>
        </p:nvCxnSpPr>
        <p:spPr>
          <a:xfrm xmlns:a="http://schemas.openxmlformats.org/drawingml/2006/main">
            <a:off x="2762250" y="24765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5" name="rule"/>
          <p:cNvCxnSpPr/>
          <p:nvPr/>
        </p:nvCxnSpPr>
        <p:spPr>
          <a:xfrm xmlns:a="http://schemas.openxmlformats.org/drawingml/2006/main">
            <a:off x="5572125" y="24765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6" name="rule"/>
          <p:cNvCxnSpPr/>
          <p:nvPr/>
        </p:nvCxnSpPr>
        <p:spPr>
          <a:xfrm xmlns:a="http://schemas.openxmlformats.org/drawingml/2006/main">
            <a:off x="8382000" y="24765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7" name="rule"/>
          <p:cNvCxnSpPr/>
          <p:nvPr/>
        </p:nvCxnSpPr>
        <p:spPr>
          <a:xfrm xmlns:a="http://schemas.openxmlformats.org/drawingml/2006/main">
            <a:off x="904875" y="40005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4040"/>
            </a:solidFill>
            <a:prstDash val="solid"/>
          </a:ln>
        </p:spPr>
      </p:cxn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D71CC11-A4C6-4B12-955B-36C45BE2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767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B84040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B84040"/>
                </a:solidFill>
                <a:latin typeface="Arial"/>
                <a:ea typeface="Arial"/>
                <a:cs typeface="Arial"/>
              </a:rPr>
              <a:t>16.42%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7D39C6E-1CB1-4FF7-9C64-76C2BED5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815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initial unsupported support rows</a:t>
            </a:r>
          </a:p>
        </p:txBody>
      </p:sp>
      <p:cxnSp>
        <p:nvCxnSpPr>
          <p:cNvPr id="60" name="rule"/>
          <p:cNvCxnSpPr/>
          <p:nvPr/>
        </p:nvCxnSpPr>
        <p:spPr>
          <a:xfrm xmlns:a="http://schemas.openxmlformats.org/drawingml/2006/main">
            <a:off x="4619625" y="40005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856B"/>
            </a:solidFill>
            <a:prstDash val="solid"/>
          </a:ln>
        </p:spPr>
      </p:cxn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45314E9-2411-4341-9639-3B80F155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767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0.00%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DB354F6-550C-475A-AF44-A38B7C51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815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after bounded action</a:t>
            </a:r>
          </a:p>
        </p:txBody>
      </p:sp>
      <p:cxnSp>
        <p:nvCxnSpPr>
          <p:cNvPr id="63" name="rule"/>
          <p:cNvCxnSpPr/>
          <p:nvPr/>
        </p:nvCxnSpPr>
        <p:spPr>
          <a:xfrm xmlns:a="http://schemas.openxmlformats.org/drawingml/2006/main">
            <a:off x="7953375" y="4000500"/>
            <a:ext cx="0" cy="1428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498A831-1964-431C-A172-031B44FE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767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1.164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9B5BD44-6B75-4CBF-84CF-179127A2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815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mean generation calls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26A66A1-BFC1-4147-8EB1-C2220834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864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Token-F1 remained 0.1848 by design: the agent changed historical-support claims, not target answers.</a:t>
            </a:r>
          </a:p>
        </p:txBody>
      </p:sp>
    </p:spTree>
    <p:extLst>
      <p:ext uri="{BB962C8B-B14F-4D97-AF65-F5344CB8AC3E}">
        <p14:creationId xmlns:p14="http://schemas.microsoft.com/office/powerpoint/2010/main" val="3125153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167639B9-4B43-4369-8DE0-C3A756F9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27AD3A-E613-460B-9318-DA6B1B23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qualitative review remains deliberately bounded</a:t>
            </a:r>
          </a:p>
        </p:txBody>
      </p:sp>
      <p:cxnSp>
        <p:nvCxnSpPr>
          <p:cNvPr id="24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EC93695-5DE8-47C2-A3D2-C0AA30F8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F2064B4D-65BE-4452-982F-CBB0024E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181600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F4D17D-8891-4CD3-88C3-DC476852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58D8A98-B537-49FC-B759-E5041318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CB21F19-6EA3-466D-846A-DF7981A8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Deterministic case extraction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79932D-D736-40C7-9DEE-DC17A85A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622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24 cases selected from frozen output by a committed rule.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80D6B0-3FE4-4897-A60D-C9E5CFA8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40F147-2F1E-4EA1-A1F1-24E47EFF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Assistant proposals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BA8749-5BD9-43A5-A06A-BEB717B3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38575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Provisional labels, notes, and audit fields generated.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0AE4B9CD-1DA2-4C66-B9E3-529E10A9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5181600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5AC6CA9-EA0F-41E6-A469-03C48503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Still required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0ECB70C-A81C-45FD-AAA4-3E3F9EDC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628C4EE-33C1-45B2-A5E6-2380A82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Student row-by-row review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63EF771-8204-4759-A97B-0F6FFE0F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622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Confirm, refine, or exclude each provisional interpretation.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2FF4759-FBDB-4606-8154-6F2936F2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FEDC30E-480D-4809-9467-FE3F812B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76625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 clinical adjudication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1641793-1546-4317-897D-2A5320E6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38575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No radiologist similarity, correctness, or safety score is claimed.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DCD948F-B5FF-471C-ADAA-D3B6D403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 V9 qualitative category count appears in the final conclusions until the review sheet is signed.</a:t>
            </a:r>
          </a:p>
        </p:txBody>
      </p:sp>
    </p:spTree>
    <p:extLst>
      <p:ext uri="{BB962C8B-B14F-4D97-AF65-F5344CB8AC3E}">
        <p14:creationId xmlns:p14="http://schemas.microsoft.com/office/powerpoint/2010/main" val="1433271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0754B8BC-F4C4-47B6-86A2-4BCEB40C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3322D2-354C-407E-8F55-CED67CD2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result is useful, but not a clinical validation</a:t>
            </a:r>
          </a:p>
        </p:txBody>
      </p:sp>
      <p:cxnSp>
        <p:nvCxnSpPr>
          <p:cNvPr id="20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75ABD75-F8B2-43CB-8F57-71594139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F61B86-55A6-4933-A3C5-D9E23F0E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856B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5C4729-EB5B-47D2-9F44-10A26EF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01  Same-source retrospective retrieval gain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A1D43CB-5280-41D6-95E4-FC70097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02  Correct-image dependence under 100 shuffles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858C0AA-A9BB-4673-AE48-3D6491B9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8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03  Report-reference QA improvement over no retrieval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7F60E89-8280-4AB5-99BE-EDBAADE8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2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04  Bounded suppression of unsupported historical claims</a:t>
            </a:r>
          </a:p>
        </p:txBody>
      </p:sp>
      <p:cxnSp>
        <p:nvCxnSpPr>
          <p:cNvPr id="27" name="rule"/>
          <p:cNvCxnSpPr/>
          <p:nvPr/>
        </p:nvCxnSpPr>
        <p:spPr>
          <a:xfrm xmlns:a="http://schemas.openxmlformats.org/drawingml/2006/main">
            <a:off x="5924550" y="1524000"/>
            <a:ext cx="0" cy="4171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38C42A2-DF27-469C-9A7C-8FFFF2C5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52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8404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B84040"/>
                </a:solidFill>
                <a:latin typeface="Arial"/>
                <a:ea typeface="Arial"/>
                <a:cs typeface="Arial"/>
              </a:rPr>
              <a:t>Not established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0435F93-00E6-420B-8009-093F5345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01  Physician-adjudicated clinical similarity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DE90534-8A6A-42D2-83F4-059A37A7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02  Diagnostic accuracy or treatment utility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7F684B0-0D75-42D4-BDF5-D7B0C23E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03  External-dataset generalization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470341F-DF39-49EE-B3E7-A6725113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04  Clinical safety or deployment readiness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534AA325-58BD-40C7-94D2-8EE6B356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8585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A911D09-97CF-421D-A4DD-9C323D8C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Historical analogies support reasoning; they do not replace radiologist review.</a:t>
            </a:r>
          </a:p>
        </p:txBody>
      </p:sp>
    </p:spTree>
    <p:extLst>
      <p:ext uri="{BB962C8B-B14F-4D97-AF65-F5344CB8AC3E}">
        <p14:creationId xmlns:p14="http://schemas.microsoft.com/office/powerpoint/2010/main" val="5164968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B1B390ED-771A-4184-B270-BA69124D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63835D3-3289-47D4-A209-7CB601EB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dashboard demonstrates the actual V9 workflow</a:t>
            </a:r>
          </a:p>
        </p:txBody>
      </p:sp>
      <p:cxnSp>
        <p:nvCxnSpPr>
          <p:cNvPr id="21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9DECC32-EA53-4855-9772-84031D7C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ee749e52d4260"/>
          <a:stretch xmlns:a="http://schemas.openxmlformats.org/drawingml/2006/main"/>
        </p:blipFill>
        <p:spPr>
          <a:xfrm xmlns:a="http://schemas.openxmlformats.org/drawingml/2006/main">
            <a:off x="973455" y="1466850"/>
            <a:ext cx="6720840" cy="46672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179F91-9524-48AD-A707-9A8953A6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7AC99D-D504-4A09-8297-BE088EE2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FAA468-71A8-4EBE-824C-FAC48CD7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7D50AD5-7E8B-4CB2-82E0-6EF715BA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Target chest X-ray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F3F594-DB1E-45A9-8805-B0D7270E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527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59106A8-03D0-4EB7-9B79-CA10DBA4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Enter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F765D8-EE33-4EB8-BDC0-F1B03165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14725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Indication + question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3D45A2D-0CCD-4379-827A-6401267A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671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199315C-311E-469F-9BCF-8F58EE17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71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51EF5EB-3290-42BF-B46D-A13A7F47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29125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Top-3 historical reports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502621-CFE6-49F2-83B4-5FD1D5D8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815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AE552AB-B091-4FDF-9E1D-F4A1E7D8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815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D38A4FA-A9FB-48B7-966B-A72A23B3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43525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MedGemma + bounded audit</a:t>
            </a:r>
          </a:p>
        </p:txBody>
      </p:sp>
    </p:spTree>
    <p:extLst>
      <p:ext uri="{BB962C8B-B14F-4D97-AF65-F5344CB8AC3E}">
        <p14:creationId xmlns:p14="http://schemas.microsoft.com/office/powerpoint/2010/main" val="2364343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45AF87EF-9740-4E9F-BF5F-648AD69B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V9 FINAL STUDY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099210-5F19-49AA-9043-329BB42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V9 contributes an evidence contract, not just a higher score</a:t>
            </a:r>
          </a:p>
        </p:txBody>
      </p:sp>
      <p:cxnSp>
        <p:nvCxnSpPr>
          <p:cNvPr id="17" name="rule"/>
          <p:cNvCxnSpPr/>
          <p:nvPr/>
        </p:nvCxnSpPr>
        <p:spPr>
          <a:xfrm xmlns:a="http://schemas.openxmlformats.org/drawingml/2006/main">
            <a:off x="400050" y="12668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6A0F9B8-580E-4D79-8838-884BF7D3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614F206-B68E-458A-9C7A-A1CCE5C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A02CDD-445D-4744-8A6D-9C54483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coherent new-patient, other-case similar-evidence formulation.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91784D-6286-43E4-9145-2A10BD13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6954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19A114-6186-485C-B835-90226478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90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Frozen foundation models plus an auditable 865-parameter reranker.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7702DB-1C01-4EDD-A1DC-FFF1C792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FC9AB0-A02C-47C3-8CBB-D5194935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Graded retrieval, case-grouped CIs, shuffled alignment control, and QA transfer.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05B7AA9-BC54-41A3-A2E2-7154EBD4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6957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704806-774D-4C10-ACC0-722A3E2C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910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Target answer and historical support are separated before bounded verification.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836FF65-80AE-479A-9821-A038075E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06680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7D60D9-8140-49E8-B320-D67B7344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33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Better retrieval, better answer consistency, and stricter evidence attribution are related but distinct claims.</a:t>
            </a:r>
          </a:p>
        </p:txBody>
      </p:sp>
    </p:spTree>
    <p:extLst>
      <p:ext uri="{BB962C8B-B14F-4D97-AF65-F5344CB8AC3E}">
        <p14:creationId xmlns:p14="http://schemas.microsoft.com/office/powerpoint/2010/main" val="19344014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0B2734-315D-4042-93A4-A2182A60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FINAL TAKEAWAY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DA825B9-432F-4EAB-A34C-074BABB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66850"/>
            <a:ext cx="10620375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Aligned multimodal retrieval can make historical evidence more useful for new-patient chest X-ray QA.</a:t>
            </a:r>
          </a:p>
        </p:txBody>
      </p:sp>
      <p:cxnSp>
        <p:nvCxnSpPr>
          <p:cNvPr id="8" name="rule"/>
          <p:cNvCxnSpPr/>
          <p:nvPr/>
        </p:nvCxnSpPr>
        <p:spPr>
          <a:xfrm xmlns:a="http://schemas.openxmlformats.org/drawingml/2006/main">
            <a:off x="419100" y="4095750"/>
            <a:ext cx="109156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83F1AE-A3A4-4A44-A123-5EBDDD65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1485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C66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C6670"/>
                </a:solidFill>
                <a:latin typeface="Arial"/>
                <a:ea typeface="Arial"/>
                <a:cs typeface="Arial"/>
              </a:rPr>
              <a:t>The strongest claim is not diagnosis: it is a reproducible improvement in similar-case retrieval and report-reference consistency under an explicit evidence boundary.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C3893C-C41C-4DDA-B013-2F481B6E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626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71766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2026-08-23T16:59:00.4730000Z</dcterms:created>
  <dcterms:modified xsi:type="dcterms:W3CDTF">2026-08-23T16:59:00.4740000Z</dcterms:modified>
</coreProperties>
</file>