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849f7cf15b5444b8" /><Relationship Type="http://schemas.openxmlformats.org/officeDocument/2006/relationships/extended-properties" Target="/docProps/app.xml" Id="R58bc45a6aa20468c" /><Relationship Type="http://schemas.openxmlformats.org/officeDocument/2006/relationships/officeDocument" Target="/ppt/presentation.xml" Id="Rdf44c876aa6443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0cb8ba9af6945ac"/>
  </p:sldMasterIdLst>
  <p:notesMasterIdLst>
    <p:notesMasterId xmlns:r="http://schemas.openxmlformats.org/officeDocument/2006/relationships" r:id="Rcbc95db5d037490c"/>
  </p:notesMasterIdLst>
  <p:sldIdLst>
    <p:sldId xmlns:r="http://schemas.openxmlformats.org/officeDocument/2006/relationships" id="256" r:id="Re41e95defa704da5"/>
    <p:sldId xmlns:r="http://schemas.openxmlformats.org/officeDocument/2006/relationships" id="257" r:id="R1b72cb3bf0c145d4"/>
    <p:sldId xmlns:r="http://schemas.openxmlformats.org/officeDocument/2006/relationships" id="258" r:id="R1bfaea1670874a59"/>
    <p:sldId xmlns:r="http://schemas.openxmlformats.org/officeDocument/2006/relationships" id="259" r:id="R560c038cc0b942a1"/>
    <p:sldId xmlns:r="http://schemas.openxmlformats.org/officeDocument/2006/relationships" id="260" r:id="R931ab6e8234444c7"/>
    <p:sldId xmlns:r="http://schemas.openxmlformats.org/officeDocument/2006/relationships" id="261" r:id="R86a37805682c49f6"/>
    <p:sldId xmlns:r="http://schemas.openxmlformats.org/officeDocument/2006/relationships" id="262" r:id="Rc8740dbc91db4738"/>
    <p:sldId xmlns:r="http://schemas.openxmlformats.org/officeDocument/2006/relationships" id="263" r:id="Rdfb347a0e0ba4f38"/>
    <p:sldId xmlns:r="http://schemas.openxmlformats.org/officeDocument/2006/relationships" id="264" r:id="R23d8038246fa48b0"/>
    <p:sldId xmlns:r="http://schemas.openxmlformats.org/officeDocument/2006/relationships" id="265" r:id="R9a46c010937348a1"/>
    <p:sldId xmlns:r="http://schemas.openxmlformats.org/officeDocument/2006/relationships" id="266" r:id="Rcb95b94a48c14714"/>
    <p:sldId xmlns:r="http://schemas.openxmlformats.org/officeDocument/2006/relationships" id="267" r:id="Rda89fd4120674189"/>
    <p:sldId xmlns:r="http://schemas.openxmlformats.org/officeDocument/2006/relationships" id="268" r:id="R785ac0aac00a46c6"/>
    <p:sldId xmlns:r="http://schemas.openxmlformats.org/officeDocument/2006/relationships" id="269" r:id="R9ae1893add504cb7"/>
    <p:sldId xmlns:r="http://schemas.openxmlformats.org/officeDocument/2006/relationships" id="270" r:id="Rad334629f52e4ac1"/>
  </p:sldIdLst>
  <p:sldSz cx="12191999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850aed8a7ba4d68" /><Relationship Type="http://schemas.openxmlformats.org/officeDocument/2006/relationships/slideMaster" Target="/ppt/slideMasters/slideMaster1.xml" Id="R20cb8ba9af6945ac" /><Relationship Type="http://schemas.openxmlformats.org/officeDocument/2006/relationships/notesMaster" Target="/ppt/notesMasters/notesMaster1.xml" Id="Rcbc95db5d037490c" /><Relationship Type="http://schemas.openxmlformats.org/officeDocument/2006/relationships/presProps" Target="/ppt/presProps.xml" Id="R608f30a534f34fe0" /><Relationship Type="http://schemas.openxmlformats.org/officeDocument/2006/relationships/viewProps" Target="/ppt/viewProps.xml" Id="Rd8aa4fe2ccd04ebb" /><Relationship Type="http://schemas.openxmlformats.org/officeDocument/2006/relationships/tableStyles" Target="/ppt/tableStyles.xml" Id="R021f8ba3b7604490" /><Relationship Type="http://schemas.openxmlformats.org/officeDocument/2006/relationships/slide" Target="/ppt/slides/slide1.xml" Id="Re41e95defa704da5" /><Relationship Type="http://schemas.openxmlformats.org/officeDocument/2006/relationships/slide" Target="/ppt/slides/slide2.xml" Id="R1b72cb3bf0c145d4" /><Relationship Type="http://schemas.openxmlformats.org/officeDocument/2006/relationships/slide" Target="/ppt/slides/slide3.xml" Id="R1bfaea1670874a59" /><Relationship Type="http://schemas.openxmlformats.org/officeDocument/2006/relationships/slide" Target="/ppt/slides/slide4.xml" Id="R560c038cc0b942a1" /><Relationship Type="http://schemas.openxmlformats.org/officeDocument/2006/relationships/slide" Target="/ppt/slides/slide5.xml" Id="R931ab6e8234444c7" /><Relationship Type="http://schemas.openxmlformats.org/officeDocument/2006/relationships/slide" Target="/ppt/slides/slide6.xml" Id="R86a37805682c49f6" /><Relationship Type="http://schemas.openxmlformats.org/officeDocument/2006/relationships/slide" Target="/ppt/slides/slide7.xml" Id="Rc8740dbc91db4738" /><Relationship Type="http://schemas.openxmlformats.org/officeDocument/2006/relationships/slide" Target="/ppt/slides/slide8.xml" Id="Rdfb347a0e0ba4f38" /><Relationship Type="http://schemas.openxmlformats.org/officeDocument/2006/relationships/slide" Target="/ppt/slides/slide9.xml" Id="R23d8038246fa48b0" /><Relationship Type="http://schemas.openxmlformats.org/officeDocument/2006/relationships/slide" Target="/ppt/slides/slide10.xml" Id="R9a46c010937348a1" /><Relationship Type="http://schemas.openxmlformats.org/officeDocument/2006/relationships/slide" Target="/ppt/slides/slide11.xml" Id="Rcb95b94a48c14714" /><Relationship Type="http://schemas.openxmlformats.org/officeDocument/2006/relationships/slide" Target="/ppt/slides/slide12.xml" Id="Rda89fd4120674189" /><Relationship Type="http://schemas.openxmlformats.org/officeDocument/2006/relationships/slide" Target="/ppt/slides/slide13.xml" Id="R785ac0aac00a46c6" /><Relationship Type="http://schemas.openxmlformats.org/officeDocument/2006/relationships/slide" Target="/ppt/slides/slide14.xml" Id="R9ae1893add504cb7" /><Relationship Type="http://schemas.openxmlformats.org/officeDocument/2006/relationships/slide" Target="/ppt/slides/slide15.xml" Id="Rad334629f52e4ac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cc5a4dbbf36423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b674f0f0c0456a" /><Relationship Type="http://schemas.openxmlformats.org/officeDocument/2006/relationships/notesMaster" Target="/ppt/notesMasters/notesMaster1.xml" Id="R9ca7653b718141c9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cc3125effc4d58" /><Relationship Type="http://schemas.openxmlformats.org/officeDocument/2006/relationships/notesMaster" Target="/ppt/notesMasters/notesMaster1.xml" Id="R8aac96beae35490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84d068883794b0a" /><Relationship Type="http://schemas.openxmlformats.org/officeDocument/2006/relationships/notesMaster" Target="/ppt/notesMasters/notesMaster1.xml" Id="R0e1414fe124b478e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e802e5cbe2840fd" /><Relationship Type="http://schemas.openxmlformats.org/officeDocument/2006/relationships/notesMaster" Target="/ppt/notesMasters/notesMaster1.xml" Id="R32eb4349798d4bd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421c481d1ab4a0c" /><Relationship Type="http://schemas.openxmlformats.org/officeDocument/2006/relationships/notesMaster" Target="/ppt/notesMasters/notesMaster1.xml" Id="R222b5ddf46674c6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1c5ee2adcad4824" /><Relationship Type="http://schemas.openxmlformats.org/officeDocument/2006/relationships/notesMaster" Target="/ppt/notesMasters/notesMaster1.xml" Id="R00344037c59247f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2eafcb53c424858" /><Relationship Type="http://schemas.openxmlformats.org/officeDocument/2006/relationships/notesMaster" Target="/ppt/notesMasters/notesMaster1.xml" Id="R4cfe2701da8a44a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07da5872df4589" /><Relationship Type="http://schemas.openxmlformats.org/officeDocument/2006/relationships/notesMaster" Target="/ppt/notesMasters/notesMaster1.xml" Id="Ra9b33449e846429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e2d58d698534348" /><Relationship Type="http://schemas.openxmlformats.org/officeDocument/2006/relationships/notesMaster" Target="/ppt/notesMasters/notesMaster1.xml" Id="Rf770582c5cb44e0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239638b3b83c4efb" /><Relationship Type="http://schemas.openxmlformats.org/officeDocument/2006/relationships/notesMaster" Target="/ppt/notesMasters/notesMaster1.xml" Id="Rdf4d680a84884b8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5e32b77690a4060" /><Relationship Type="http://schemas.openxmlformats.org/officeDocument/2006/relationships/notesMaster" Target="/ppt/notesMasters/notesMaster1.xml" Id="Ra7cd8918491141b0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2801c5f5b3548c7" /><Relationship Type="http://schemas.openxmlformats.org/officeDocument/2006/relationships/notesMaster" Target="/ppt/notesMasters/notesMaster1.xml" Id="R96013094a5224bfe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296c7a3a0eb492d" /><Relationship Type="http://schemas.openxmlformats.org/officeDocument/2006/relationships/notesMaster" Target="/ppt/notesMasters/notesMaster1.xml" Id="Rfaf07db3d6394d8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bfce3295a853485f" /><Relationship Type="http://schemas.openxmlformats.org/officeDocument/2006/relationships/notesMaster" Target="/ppt/notesMasters/notesMaster1.xml" Id="Rd796d86dc09e4e6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c94470414c74f26" /><Relationship Type="http://schemas.openxmlformats.org/officeDocument/2006/relationships/notesMaster" Target="/ppt/notesMasters/notesMaster1.xml" Id="Rbc8824b4c806473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docs/P2_FINAL_MANUSCRIPT.md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docs/P2_FINAL_MANUSCRIPT.md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Lewis et al. (2020): https://proceedings.neurips.cc/paper/2020/hash/6b493230205f780e1bc26945df7481e5-Abstract.html</a:t>
            </a:r>
          </a:p>
          <a:p xmlns:a="http://schemas.openxmlformats.org/drawingml/2006/main">
            <a:r>
              <a:t>- Project validity audit: experiments/final_optimized/validity_audit/research_validity_audit.json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validity audit: experiments/final_optimized/validity_audit/research_validity_audit.json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docs/P2_FINAL_MANUSCRIPT.md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Demner-Fushman et al. (2016): https://doi.org/10.1093/jamia/ocv080</a:t>
            </a:r>
          </a:p>
          <a:p xmlns:a="http://schemas.openxmlformats.org/drawingml/2006/main">
            <a:r>
              <a:t>- Project data manifest: docs/DATA.md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Agent design: docs/AGENTIC_RAG.md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  <a:p xmlns:a="http://schemas.openxmlformats.org/drawingml/2006/main">
            <a:r>
              <a:t>- Grouped statistics: experiments/final_optimized/statistics/held_out_test_grouped_bootstrap.json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Cross-case audit: experiments/final_optimized/contamination/report_rag_cross_case_contamination.json</a:t>
            </a:r>
          </a:p>
          <a:p xmlns:a="http://schemas.openxmlformats.org/drawingml/2006/main">
            <a:r>
              <a:t>- Project validity audit: experiments/final_optimized/validity_audit/research_validity_audit.json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V2 confirmation results: experiments/benchmark_v2/confirmation_evaluation/test_generation_summary.json</a:t>
            </a:r>
          </a:p>
          <a:p xmlns:a="http://schemas.openxmlformats.org/drawingml/2006/main">
            <a:r>
              <a:t>- V2 validity audit: experiments/benchmark_v2/validity_audit/benchmark_v2_validity_audit.json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docs/P2_FINAL_MANUSCRIPT.md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V3 runbook: docs/BENCHMARK_V3_RADQA_RUNBOOK.md</a:t>
            </a:r>
          </a:p>
          <a:p xmlns:a="http://schemas.openxmlformats.org/drawingml/2006/main">
            <a:r>
              <a:t>- Soni et al. (2022): https://aclanthology.org/2022.lrec-1.672/</a:t>
            </a:r>
          </a:p>
          <a:p xmlns:a="http://schemas.openxmlformats.org/drawingml/2006/main">
            <a:r>
              <a:t>- Official RadQA access page: https://physionet.org/content/radqa/1.0.0/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 manuscript: docs/P2_FINAL_MANUSCRIPT.md</a:t>
            </a:r>
          </a:p>
          <a:p xmlns:a="http://schemas.openxmlformats.org/drawingml/2006/main">
            <a:r>
              <a:t>- Final result registry: experiments/final_submission/final_results_registry.json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46c54c768a0498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35c774a1c5464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f7e7a722e8148aa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0f6cbe99ec14eb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a066989dc714a4e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4f1054775447e6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678ff1196f4c40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82fa82bcdec4b53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ed7098f888e47ce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27af0567c14371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fcd8ac19819405a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32A3177-1B3D-4DA1-8DEB-88485BEEE978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2BE2598B-001C-4760-8E49-82637DD7A65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12FF040-5733-48EF-AD1A-E2B8FE0C77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4272265-74B2-47FA-AA93-6FEEAECCD8E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E9C7A98-7EF1-44A8-9A8B-40070934525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6CF3C51-F20A-40F8-8C24-45F806F311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EDD4EA9-223E-407A-9FC1-8CED9DD85E39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EBEAA4A-C159-4940-A21F-5128D94A8B5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54BDA75-B078-466A-9D11-35EA73AC80A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842F55D-35D7-448F-9F51-76943B380DC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AFD8E759-8BA6-4345-B2F7-B94DBE5DF49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722313" y="4406900"/>
            <a:ext cx="77724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6493ACDE-A9B2-43C3-ABE7-6E18DFA55E4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722313" y="2906713"/>
            <a:ext cx="77724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61925E1-DB77-464F-98A0-FFA4174F58CA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CD30C2C-FD72-4579-A76F-5EC16E2A350F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B6DA7F7-1161-415B-AEE2-D9C1D6FE05CB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8FE28A7-8AC0-42EC-BA83-28FB799A3C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18949F9-CE7D-4890-BBA3-A1D168BC0886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57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C2F9F01-197F-49D1-88E4-32DFA2CFBCE8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648200" y="1600200"/>
            <a:ext cx="40386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2419251C-67CC-4BA2-BE1C-3A7BBE5DF42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F325C6A6-7749-4C59-9A89-FD2DA7226431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7EDB39D6-44A9-4AD3-9C11-F887F4D262D0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E609E7-9372-4262-86BD-56BB2F2056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88CBD2B6-8528-47EF-AA5E-13EB0E8355DF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535113"/>
            <a:ext cx="4040188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3D8D5AA-104E-4BA0-9374-5C4E4FF2C06C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457200" y="2174875"/>
            <a:ext cx="4040188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545F33D4-2FB0-43C3-A728-60D41B4EBF79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4645025" y="1535113"/>
            <a:ext cx="4041775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241DCF9E-394A-47E8-8BEE-0B571AD9E74D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4645025" y="2174875"/>
            <a:ext cx="4041775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E61BA55C-EED4-4239-BDF1-7CDCC296307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BCF3F80A-B1C3-4361-944A-00615D6F3626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F160D490-BB22-4389-A740-EC1A7B0A1D7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8FE1A6-1C57-45D8-9821-D144F03C87F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86B1B025-DC7C-4562-A4F7-AFC820693C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DA3669B8-B578-4ED0-8B14-BB427E9A665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B5AEB94B-576A-4E4F-8428-13E27AE5F7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49EBE373-9323-43CB-9BDC-B4C748FE5088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69CAC825-ACF6-4C64-BC77-3150D45E9097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2FA02E5C-C02E-45E1-BE15-1EA1FDA8746F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CD61714-3A00-4E2C-8EF7-C2F4DAE3DB7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3050"/>
            <a:ext cx="3008313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3216530D-F5D2-4B89-B883-89D3908215D3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3575050" y="273050"/>
            <a:ext cx="5111750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7237CCE-480E-4078-A423-3EC3439ECA7D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457200" y="1435100"/>
            <a:ext cx="3008313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9370990B-F9E1-4D7D-BC44-54AFFAD875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51D58E7A-E00A-42E1-824D-6B92ED6D50A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F261E55F-99B0-449B-9871-4715A7DB91D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E392A2F-9704-44EB-97E1-C079ED22A02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792288" y="4800600"/>
            <a:ext cx="54864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83451CB7-2F97-43A7-ADB3-40108A3ABDD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1792288" y="612775"/>
            <a:ext cx="5486400" cy="4114800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2D411159-F77B-4BB7-9CC8-B3795A79717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1792288" y="5367338"/>
            <a:ext cx="54864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0AC24375-03D7-4EA3-9196-A7A3A8EDA07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1003303D-571F-44C4-B69B-14C68D3175B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080C34D5-31D4-4E8B-98EC-E9661BE40C7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DC54CE-57DB-45C3-B563-27B71B893A0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7126B2BC-FA25-499B-9D4A-202D7B08B45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A4B48C4-03DE-4D04-A03B-A41CFFAC0FC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E3BD903-600D-49E9-B1D4-317F5BF362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B64C5B3-BAB7-4F9D-8F00-C18E3BE961D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C4D70284-77D9-4DB4-93AD-6A5B574D518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629400" y="274638"/>
            <a:ext cx="2057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2F808A14-FA3F-4256-A4A1-A1F75416F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274638"/>
            <a:ext cx="60198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FE6B277-9FF2-449C-BB79-281E9F340AE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32CDDB3E-3190-415C-AC2F-8CA23CE1A4B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14A774B-7426-43C7-8134-ECED55C5518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0b11a22f2e14422" /><Relationship Type="http://schemas.openxmlformats.org/officeDocument/2006/relationships/slideLayout" Target="/ppt/slideLayouts/slideLayout1.xml" Id="R4ef77c155ee34fa7" /><Relationship Type="http://schemas.openxmlformats.org/officeDocument/2006/relationships/slideLayout" Target="/ppt/slideLayouts/slideLayout2.xml" Id="R8d817d9f9ea64051" /><Relationship Type="http://schemas.openxmlformats.org/officeDocument/2006/relationships/slideLayout" Target="/ppt/slideLayouts/slideLayout3.xml" Id="R8c91ff007140488d" /><Relationship Type="http://schemas.openxmlformats.org/officeDocument/2006/relationships/slideLayout" Target="/ppt/slideLayouts/slideLayout4.xml" Id="Ra856074f8c0c4c04" /><Relationship Type="http://schemas.openxmlformats.org/officeDocument/2006/relationships/slideLayout" Target="/ppt/slideLayouts/slideLayout5.xml" Id="R46b3e10bd804456e" /><Relationship Type="http://schemas.openxmlformats.org/officeDocument/2006/relationships/slideLayout" Target="/ppt/slideLayouts/slideLayout6.xml" Id="R720e30fd95ae482d" /><Relationship Type="http://schemas.openxmlformats.org/officeDocument/2006/relationships/slideLayout" Target="/ppt/slideLayouts/slideLayout7.xml" Id="R3781ef1878e04057" /><Relationship Type="http://schemas.openxmlformats.org/officeDocument/2006/relationships/slideLayout" Target="/ppt/slideLayouts/slideLayout8.xml" Id="Re39b1fde578940db" /><Relationship Type="http://schemas.openxmlformats.org/officeDocument/2006/relationships/slideLayout" Target="/ppt/slideLayouts/slideLayout9.xml" Id="R045d5d75546246ec" /><Relationship Type="http://schemas.openxmlformats.org/officeDocument/2006/relationships/slideLayout" Target="/ppt/slideLayouts/slideLayout10.xml" Id="Rfcdd8b2da42a47ee" /><Relationship Type="http://schemas.openxmlformats.org/officeDocument/2006/relationships/slideLayout" Target="/ppt/slideLayouts/slideLayout11.xml" Id="Rbaa535d37a7a4665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285289A2-966C-48B0-AE10-E6BCA3EC3EC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457200" y="274638"/>
            <a:ext cx="8229600" cy="1143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07F4BC18-EBD3-4AE6-B3E0-2197CA020B2C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457200" y="1600200"/>
            <a:ext cx="8229600" cy="45259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FC225E-885B-478B-98B3-4A746C76E018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457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5BCAD085-E8A6-8845-BD4E-CB4CCA059FC4}" type="datetimeFigureOut">
              <a:t>1/27/13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A571CC02-5C97-4879-AFF4-0E96D7FB5033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124200" y="6356350"/>
            <a:ext cx="2895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825A939-0912-47C2-A585-DC09BB2B2E6A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553200" y="6356350"/>
            <a:ext cx="21336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C1FF6DA9-008F-8B48-92A6-B652298478BF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ef77c155ee34fa7"/>
    <p:sldLayoutId xmlns:r="http://schemas.openxmlformats.org/officeDocument/2006/relationships" id="2147483650" r:id="R8d817d9f9ea64051"/>
    <p:sldLayoutId xmlns:r="http://schemas.openxmlformats.org/officeDocument/2006/relationships" id="2147483651" r:id="R8c91ff007140488d"/>
    <p:sldLayoutId xmlns:r="http://schemas.openxmlformats.org/officeDocument/2006/relationships" id="2147483652" r:id="Ra856074f8c0c4c04"/>
    <p:sldLayoutId xmlns:r="http://schemas.openxmlformats.org/officeDocument/2006/relationships" id="2147483653" r:id="R46b3e10bd804456e"/>
    <p:sldLayoutId xmlns:r="http://schemas.openxmlformats.org/officeDocument/2006/relationships" id="2147483654" r:id="R720e30fd95ae482d"/>
    <p:sldLayoutId xmlns:r="http://schemas.openxmlformats.org/officeDocument/2006/relationships" id="2147483655" r:id="R3781ef1878e04057"/>
    <p:sldLayoutId xmlns:r="http://schemas.openxmlformats.org/officeDocument/2006/relationships" id="2147483656" r:id="Re39b1fde578940db"/>
    <p:sldLayoutId xmlns:r="http://schemas.openxmlformats.org/officeDocument/2006/relationships" id="2147483657" r:id="R045d5d75546246ec"/>
    <p:sldLayoutId xmlns:r="http://schemas.openxmlformats.org/officeDocument/2006/relationships" id="2147483658" r:id="Rfcdd8b2da42a47ee"/>
    <p:sldLayoutId xmlns:r="http://schemas.openxmlformats.org/officeDocument/2006/relationships" id="2147483659" r:id="Rbaa535d37a7a4665"/>
  </p:sldLayoutIdLst>
  <p:txStyles>
    <p:titleStyle>
      <a:lvl1pPr xmlns:a="http://schemas.openxmlformats.org/drawingml/2006/main" algn="ctr" defTabSz="4572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 defTabSz="4572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 defTabSz="4572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4572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4572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4572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16965869cd554185" /><Relationship Type="http://schemas.openxmlformats.org/officeDocument/2006/relationships/image" Target="/ppt/media/image.png" Id="R987d86ee92054f31" /><Relationship Type="http://schemas.openxmlformats.org/officeDocument/2006/relationships/image" Target="/ppt/media/image2.png" Id="R8c67cf9b87424f2f" /><Relationship Type="http://schemas.openxmlformats.org/officeDocument/2006/relationships/notesSlide" Target="/ppt/notesSlides/notesSlide1.xml" Id="Rbcea73a949ef40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0d398d5d2a8143bf" /><Relationship Type="http://schemas.openxmlformats.org/officeDocument/2006/relationships/image" Target="/ppt/media/image3.png" Id="R50f1255764114733" /><Relationship Type="http://schemas.openxmlformats.org/officeDocument/2006/relationships/image" Target="/ppt/media/image2.png" Id="R81770258185643e0" /><Relationship Type="http://schemas.openxmlformats.org/officeDocument/2006/relationships/notesSlide" Target="/ppt/notesSlides/notesSlide2.xml" Id="Re7b4f95a38a948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24b31226abc4ed6" /><Relationship Type="http://schemas.openxmlformats.org/officeDocument/2006/relationships/image" Target="/ppt/media/image3.png" Id="R57f39fe836324ed3" /><Relationship Type="http://schemas.openxmlformats.org/officeDocument/2006/relationships/image" Target="/ppt/media/image2.png" Id="R6bf54aeca50a497f" /><Relationship Type="http://schemas.openxmlformats.org/officeDocument/2006/relationships/notesSlide" Target="/ppt/notesSlides/notesSlide3.xml" Id="R5231127cbefd467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2b8431c1b9a94b07" /><Relationship Type="http://schemas.openxmlformats.org/officeDocument/2006/relationships/image" Target="/ppt/media/image4.png" Id="R6e5ea90cf6044ada" /><Relationship Type="http://schemas.openxmlformats.org/officeDocument/2006/relationships/image" Target="/ppt/media/image5.png" Id="R33c0419b08b14cc7" /><Relationship Type="http://schemas.openxmlformats.org/officeDocument/2006/relationships/image" Target="/ppt/media/image3.png" Id="Rd2ba696954c84972" /><Relationship Type="http://schemas.openxmlformats.org/officeDocument/2006/relationships/image" Target="/ppt/media/image2.png" Id="Ree410d63ce2640c4" /><Relationship Type="http://schemas.openxmlformats.org/officeDocument/2006/relationships/notesSlide" Target="/ppt/notesSlides/notesSlide4.xml" Id="Rf805b078cda34aa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def71c08561540e4" /><Relationship Type="http://schemas.openxmlformats.org/officeDocument/2006/relationships/image" Target="/ppt/media/image3.png" Id="R3da7c82b7a0f4f83" /><Relationship Type="http://schemas.openxmlformats.org/officeDocument/2006/relationships/image" Target="/ppt/media/image2.png" Id="R5850582107b447de" /><Relationship Type="http://schemas.openxmlformats.org/officeDocument/2006/relationships/notesSlide" Target="/ppt/notesSlides/notesSlide5.xml" Id="R15f454ed11d049c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76a6832a0674ef0" /><Relationship Type="http://schemas.openxmlformats.org/officeDocument/2006/relationships/image" Target="/ppt/media/image3.png" Id="R65a5e9f754ce4e8e" /><Relationship Type="http://schemas.openxmlformats.org/officeDocument/2006/relationships/image" Target="/ppt/media/image2.png" Id="R633de5b671c54dfa" /><Relationship Type="http://schemas.openxmlformats.org/officeDocument/2006/relationships/notesSlide" Target="/ppt/notesSlides/notesSlide6.xml" Id="Rcc06d4822dad40b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ba097d9411544c48" /><Relationship Type="http://schemas.openxmlformats.org/officeDocument/2006/relationships/image" Target="/ppt/media/image3.png" Id="R23fa05e48f754de3" /><Relationship Type="http://schemas.openxmlformats.org/officeDocument/2006/relationships/image" Target="/ppt/media/image2.png" Id="R22de59dd470c442e" /><Relationship Type="http://schemas.openxmlformats.org/officeDocument/2006/relationships/image" Target="/ppt/media/image4.png" Id="R3cf8fd0990d44073" /><Relationship Type="http://schemas.openxmlformats.org/officeDocument/2006/relationships/image" Target="/ppt/media/image5.png" Id="Rc89d95ead430493c" /><Relationship Type="http://schemas.openxmlformats.org/officeDocument/2006/relationships/notesSlide" Target="/ppt/notesSlides/notesSlide7.xml" Id="Rb1fef50ad9544f3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8bcc5c5386264065" /><Relationship Type="http://schemas.openxmlformats.org/officeDocument/2006/relationships/image" Target="/ppt/media/image3.png" Id="R5c10715b2c494588" /><Relationship Type="http://schemas.openxmlformats.org/officeDocument/2006/relationships/image" Target="/ppt/media/image2.png" Id="R78d35eee7b994089" /><Relationship Type="http://schemas.openxmlformats.org/officeDocument/2006/relationships/notesSlide" Target="/ppt/notesSlides/notesSlide8.xml" Id="R7b51113e5f6e434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978422ace9b4166" /><Relationship Type="http://schemas.openxmlformats.org/officeDocument/2006/relationships/image" Target="/ppt/media/image3.png" Id="R369e6009d6ba434e" /><Relationship Type="http://schemas.openxmlformats.org/officeDocument/2006/relationships/image" Target="/ppt/media/image2.png" Id="Ra3f05fcf503f4933" /><Relationship Type="http://schemas.openxmlformats.org/officeDocument/2006/relationships/notesSlide" Target="/ppt/notesSlides/notesSlide9.xml" Id="Re0c2681e5257404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7e7bef816bb4e94" /><Relationship Type="http://schemas.openxmlformats.org/officeDocument/2006/relationships/image" Target="/ppt/media/image3.png" Id="R090e1e857b0d4f9e" /><Relationship Type="http://schemas.openxmlformats.org/officeDocument/2006/relationships/image" Target="/ppt/media/image2.png" Id="Rdeb9f9e89a884434" /><Relationship Type="http://schemas.openxmlformats.org/officeDocument/2006/relationships/notesSlide" Target="/ppt/notesSlides/notesSlide10.xml" Id="Recf654142a4e48c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28e449cbe034bd9" /><Relationship Type="http://schemas.openxmlformats.org/officeDocument/2006/relationships/image" Target="/ppt/media/image4.png" Id="Rda9a4f3029be4f37" /><Relationship Type="http://schemas.openxmlformats.org/officeDocument/2006/relationships/image" Target="/ppt/media/image5.png" Id="R46f0385bd59540c0" /><Relationship Type="http://schemas.openxmlformats.org/officeDocument/2006/relationships/image" Target="/ppt/media/image3.png" Id="Re3c5609dc0084383" /><Relationship Type="http://schemas.openxmlformats.org/officeDocument/2006/relationships/image" Target="/ppt/media/image2.png" Id="R7096727347c14915" /><Relationship Type="http://schemas.openxmlformats.org/officeDocument/2006/relationships/notesSlide" Target="/ppt/notesSlides/notesSlide11.xml" Id="R8f563dd16bcc41a7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554a7bcd0c5e4899" /><Relationship Type="http://schemas.openxmlformats.org/officeDocument/2006/relationships/image" Target="/ppt/media/image3.png" Id="Re0a6a760059a4067" /><Relationship Type="http://schemas.openxmlformats.org/officeDocument/2006/relationships/image" Target="/ppt/media/image2.png" Id="Rdb1025a12a984b1b" /><Relationship Type="http://schemas.openxmlformats.org/officeDocument/2006/relationships/notesSlide" Target="/ppt/notesSlides/notesSlide12.xml" Id="R8e634983c6474a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9c8558955e0d4fc7" /><Relationship Type="http://schemas.openxmlformats.org/officeDocument/2006/relationships/image" Target="/ppt/media/image3.png" Id="Rdc279ec2a5d04956" /><Relationship Type="http://schemas.openxmlformats.org/officeDocument/2006/relationships/image" Target="/ppt/media/image2.png" Id="R0d8021cdcdd24c7d" /><Relationship Type="http://schemas.openxmlformats.org/officeDocument/2006/relationships/notesSlide" Target="/ppt/notesSlides/notesSlide13.xml" Id="Rf4fa373cd93242f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c6cc80acb3a144c2" /><Relationship Type="http://schemas.openxmlformats.org/officeDocument/2006/relationships/image" Target="/ppt/media/image3.png" Id="R0bf0e4e60f134d44" /><Relationship Type="http://schemas.openxmlformats.org/officeDocument/2006/relationships/image" Target="/ppt/media/image2.png" Id="R5009744fb9714622" /><Relationship Type="http://schemas.openxmlformats.org/officeDocument/2006/relationships/notesSlide" Target="/ppt/notesSlides/notesSlide14.xml" Id="Re501d4c649754dd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7.xml" Id="Rad3d4ef64d6c4d44" /><Relationship Type="http://schemas.openxmlformats.org/officeDocument/2006/relationships/image" Target="/ppt/media/image3.png" Id="R4b2012aa7e7c49e8" /><Relationship Type="http://schemas.openxmlformats.org/officeDocument/2006/relationships/image" Target="/ppt/media/image2.png" Id="R3484ceee95e041a2" /><Relationship Type="http://schemas.openxmlformats.org/officeDocument/2006/relationships/notesSlide" Target="/ppt/notesSlides/notesSlide15.xml" Id="R1d5e6eafaf0e4e7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F5AB938D-60FC-4AF0-A459-487D73FC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431536"/>
            <a:ext cx="8183879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ADCB776E-CCAD-41B1-8FE4-609DC3147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5431536"/>
            <a:ext cx="256032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8B7952CE-7D79-4C4F-9A88-D8AB5CF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912" y="5431536"/>
            <a:ext cx="640080" cy="74980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20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87d86ee92054f3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5641848"/>
            <a:ext cx="5074920" cy="524073"/>
          </a:xfrm>
          <a:prstGeom xmlns:a="http://schemas.openxmlformats.org/drawingml/2006/main" prst="rect">
            <a:avLst/>
          </a:prstGeom>
        </p:spPr>
      </p:pic>
      <p:pic>
        <p:nvPicPr>
          <p:cNvPr id="21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c67cf9b87424f2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464040" y="5440680"/>
            <a:ext cx="2011680" cy="627732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5E1A6E7-8817-42B7-949E-316A40BE2D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6373368"/>
            <a:ext cx="18288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00" b="1">
                <a:solidFill>
                  <a:srgbClr val="000000"/>
                </a:solidFill>
                <a:latin typeface="Georgia"/>
                <a:ea typeface="Georgia"/>
                <a:cs typeface="Georgia"/>
              </a:rPr>
              <a:t>www.um.edu.my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A58F181-0862-4478-9F3F-C3939808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713232"/>
            <a:ext cx="9875520" cy="16824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Evidence-Checking Agentic RAG for
Radiology Report-Grounded Question
Answering with Linked X-ray Cases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F8D44D9-5391-47F6-B276-1B9BEA9AF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2404872"/>
            <a:ext cx="7772400" cy="341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000" b="1">
                <a:solidFill>
                  <a:srgbClr val="1D4E89"/>
                </a:solidFill>
                <a:latin typeface="Arial"/>
                <a:ea typeface="Arial"/>
                <a:cs typeface="Arial"/>
              </a:rPr>
              <a:t>Case-Scoped, Evidence-Checked, Reproducible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CB38DAC-26C7-439B-B01D-72927A679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2852928"/>
            <a:ext cx="5120640" cy="8595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70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P2 Research Project Presentation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F2F0E72A-68F7-40E2-9D2E-DC2509392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3675887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465262"/>
                </a:solidFill>
                <a:latin typeface="Arial"/>
                <a:ea typeface="Arial"/>
                <a:cs typeface="Arial"/>
              </a:rPr>
              <a:t>Presenter: </a:t>
            </a:r>
            <a:r>
              <a:rPr sz="160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Zhang Yue (22097191)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8CF082B5-8FD9-415E-A0C7-F3132E24D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023360"/>
            <a:ext cx="62179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465262"/>
                </a:solidFill>
                <a:latin typeface="Arial"/>
                <a:ea typeface="Arial"/>
                <a:cs typeface="Arial"/>
              </a:rPr>
              <a:t>Supervisor: </a:t>
            </a:r>
            <a:r>
              <a:rPr sz="160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Dr. Uzair Ishtiaq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A76F540-8094-46CD-8F1A-D7A34975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370832"/>
            <a:ext cx="740664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465262"/>
                </a:solidFill>
                <a:latin typeface="Arial"/>
                <a:ea typeface="Arial"/>
                <a:cs typeface="Arial"/>
              </a:rPr>
              <a:t>Programme: </a:t>
            </a:r>
            <a:r>
              <a:rPr sz="160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Master of Artificial Intelligence, Universiti Malaya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68CEEF35-4AAD-42AD-AF9C-C571D08D19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6968" y="4718304"/>
            <a:ext cx="365760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465262"/>
                </a:solidFill>
                <a:latin typeface="Arial"/>
                <a:ea typeface="Arial"/>
                <a:cs typeface="Arial"/>
              </a:rPr>
              <a:t>Date: August 2026</a:t>
            </a:r>
          </a:p>
        </p:txBody>
      </p:sp>
    </p:spTree>
    <p:extLst>
      <p:ext uri="{BB962C8B-B14F-4D97-AF65-F5344CB8AC3E}">
        <p14:creationId xmlns:p14="http://schemas.microsoft.com/office/powerpoint/2010/main" val="134794000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44E68B14-7863-4D84-AC55-61A51F5B4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9BA1F49-6759-48D2-85F5-61ACB37C1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D8F0B8FD-0C5E-4AC3-A1C5-B730D8CB89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2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f12557641147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33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1770258185643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742C3418-7441-432B-A809-E941D4191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A3590AB-6420-496A-84BC-E93854472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5720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P2 Defence Route: Problem, Evidence, Results, Demo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76DB5A-7C7B-4D23-A74A-C4762294C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234440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1.</a:t>
            </a:r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DC0015CD-A4FC-4BC2-A962-888423D6D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216152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85F4552-001B-46E5-A1C0-14E5D03A5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234440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Problem and research questions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BE52AD67-D054-4192-8652-2ADA0DC6F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1947672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2.</a:t>
            </a: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8AA76C9-D839-4CD6-AC87-185BCD7C5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1929384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168900B-E409-4DC4-81CD-EE4A4D36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1947672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data and two-stage design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F2C533D-ED17-456B-B66D-5977720DE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660904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3.</a:t>
            </a: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95853A28-7DDC-444D-B9BF-EB38279DC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642616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A1AB5DE-C806-42BD-BD4D-B1295CF22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2660904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Evidence-checking Agent workflow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92FF9BD-A7EC-4474-9B6E-4C47206F2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3374136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4.</a:t>
            </a: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C484CE1F-C890-48FC-B0C5-39A696C0E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55848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B613B48-ACC2-42CA-B3FC-400F23B88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3374136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V1 open-corpus results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FBA99161-572B-4E55-96BC-6DC61A59E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087368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5.</a:t>
            </a:r>
          </a:p>
        </p:txBody>
      </p:sp>
      <p:sp>
        <p:nvSpPr>
          <p:cNvPr id="22" name="Rectangle 21">
            <a:extLst xmlns:a="http://schemas.openxmlformats.org/drawingml/2006/main">
              <a:ext uri="{FF2B5EF4-FFF2-40B4-BE49-F238E27FC236}">
                <a16:creationId xmlns:a16="http://schemas.microsoft.com/office/drawing/2014/main" id="{E0E04B5A-85A8-463F-8372-CE9F9CBAB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069080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AE04F5BE-B21B-42D2-B812-69A5FD575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087368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V2 case-scoped results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E613914-5807-4DE1-B9E4-62934D8A8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800600"/>
            <a:ext cx="5029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6.</a:t>
            </a: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2B601586-0F90-4307-BC19-8BDAB2B6E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4782312"/>
            <a:ext cx="45720" cy="39319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1177F4B8-691B-4B42-90E6-41D9E6FC4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7360" y="4800600"/>
            <a:ext cx="9601200" cy="3718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2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Dashboard, V3 status, conclusions</a:t>
            </a:r>
          </a:p>
        </p:txBody>
      </p:sp>
    </p:spTree>
    <p:extLst>
      <p:ext uri="{BB962C8B-B14F-4D97-AF65-F5344CB8AC3E}">
        <p14:creationId xmlns:p14="http://schemas.microsoft.com/office/powerpoint/2010/main" val="60700298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30878D44-E02E-4740-83D3-90EFD408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43D07BF-CAAB-4F87-B459-3E9B8765F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AF6BA40-3D47-43F9-BC1A-F61B69CE8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5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f39fe836324ed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4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bf54aeca50a497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A6E5D97-F78A-4BF4-9FD3-7EB895CDD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D9BC452-713B-46A4-A0C2-FD4FB603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84048"/>
            <a:ext cx="10972800" cy="509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1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The core problem is not just hallucination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80E8FB69-9F6E-47B3-8F1E-C190C5B3B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51560"/>
            <a:ext cx="5166360" cy="43159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A53A44E-A9C8-444F-ACCA-31B8ED215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252728"/>
            <a:ext cx="4572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Why RAG still fails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BE58B867-2781-4CB9-A9B1-E7FF9D4AC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66420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CF12D729-A188-4610-85F2-B7EC9CEBD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1659636"/>
            <a:ext cx="43982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Generic questions may not identify a unique radiology case.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4504224-F913-449A-B272-19391D016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30428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571AB2C-3FED-4878-9CDA-B53E24861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299716"/>
            <a:ext cx="43982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retriever can select a clinically similar but wrong patient.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9BB1BDD6-D7FE-4616-B19C-F2BECA848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4436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0AA1FADB-3F11-48D9-8449-4BB9FE7DB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939796"/>
            <a:ext cx="43982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Top-k evidence can combine findings from several reports.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C52551AA-DBB8-4989-A609-EC79B841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8444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A2C202CB-69BD-482F-81F2-0810FA76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3579876"/>
            <a:ext cx="4398264" cy="42062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The generator may omit evidence or add unsupported claims.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A42BCD-FDC0-43EC-A3FB-1D772CA76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22452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71159670-0BCA-4569-8FB3-147174EC5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4219956"/>
            <a:ext cx="439826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 verifier may approve evidence from the wrong patient.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D05D0AB-F6C5-4639-B18C-882637360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51560"/>
            <a:ext cx="5166360" cy="43159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1DED911-03E1-4D31-9DA3-FF1F85ED2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252728"/>
            <a:ext cx="45720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Study focus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D7F92668-D339-4696-9322-4F444EDEE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664208"/>
            <a:ext cx="12618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3D6D0B9-DFBD-4D51-96EE-9965701842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741932"/>
            <a:ext cx="111556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Domain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CAD8236-161F-464C-8780-159B8B58D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82496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Radiology report-grounded QA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979FAC34-F0E0-45B8-886C-34B37B92E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240280"/>
            <a:ext cx="12618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02793C3-2403-479F-96DA-6356F0A05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18004"/>
            <a:ext cx="111556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6337D15A-9D06-4B2E-AAAC-05939F549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258568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IU X-Ray/OpenI cases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58A847A4-3B3D-415A-8FDE-FA70E9395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16352"/>
            <a:ext cx="12618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1A4722E8-747E-488E-A722-DDC1A4EF7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894076"/>
            <a:ext cx="111556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variable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E77E1B0-C486-493C-938B-3A899355B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34640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V1: open-corpus stress test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0E111EB1-5422-460D-BE94-A804D722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392424"/>
            <a:ext cx="12618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92E653A-08E7-41CA-AF8D-3AA38B29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470148"/>
            <a:ext cx="111556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2D5A8E36-4B3D-4D88-B4E3-9CD03DEB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410712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V2: patient-known workflow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5E9D3365-4CF1-43A8-B9EF-09EA59F8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968496"/>
            <a:ext cx="1261872" cy="31089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1A86786-55F8-4034-8588-CB2594979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046220"/>
            <a:ext cx="1115568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19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Goal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380A95F-4E9F-4724-BCE3-17B8AD93F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986783"/>
            <a:ext cx="32461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2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Separate scope, retrieval, answer, support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AC7BF625-F98E-4113-8D10-6D8C166BD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5550408"/>
            <a:ext cx="1028700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F5AD2FD5-2BCC-4990-98B0-6CD4A7169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678424"/>
            <a:ext cx="9875520" cy="2575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Key message: evidence faithfulness and patient correctness must be evaluated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62345155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F4EDAD-4038-4505-A551-10EF48BC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821124-6A7D-461E-877A-D30C770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Three failure modes compound across the pipeline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564E76-16D0-4CBA-8125-2E3CA6D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45BD955-F6C6-44E2-8624-61229F6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CF99DD-F0C1-457A-8480-FCC3FB7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1. Identifiability failure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C7744F8-C47A-4C76-8919-C5CE3C3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3F1196-BA80-494D-87F9-2D60168F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DE617D5-D230-4A6E-A4C2-18DA32F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2. Retrieval and contamination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F62710B-D19C-4490-AB7B-DD1282A8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667F86D-325C-40FD-8880-76F65C8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F40083-DEB4-43C9-9E79-80ACA0D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3. Verification blind spot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6EA30A1-FA30-400E-8C77-09DABA2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856232"/>
            <a:ext cx="2414016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54EB8E4-D9AE-4731-8198-B512B064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47672"/>
            <a:ext cx="21396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02C67"/>
                </a:solidFill>
              </a:rPr>
              <a:t>Q: Which case is intended?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99010C-D67F-492D-B664-8BB61C39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2139696" cy="29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</a:rPr>
              <a:t>A: Not uniquely known.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E78C3A-C35F-4E40-9407-1FF1652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79192"/>
            <a:ext cx="21396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C62721"/>
                </a:solidFill>
              </a:rPr>
              <a:t>generic question; many compatible cases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BBC5D4-933E-401C-A476-25A4698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46120"/>
            <a:ext cx="25054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191919"/>
                </a:solidFill>
              </a:rPr>
              <a:t>Semantic similarity cannot establish patient identity.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A45D846-6C82-431A-A13D-FA26354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297680"/>
            <a:ext cx="2505456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8118067-9E2D-4904-9B48-2AF4FE6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61688"/>
            <a:ext cx="23225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02C67"/>
                </a:solidFill>
              </a:rPr>
              <a:t>Risk: the task may be under-specified.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80727C-01FE-4347-A771-02663060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83080"/>
            <a:ext cx="261518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2C67"/>
                </a:solidFill>
              </a:rPr>
              <a:t>Pooled evidence can hide the error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667D150-5C05-4393-B842-6DB5F382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9397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6272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F9F4D2-4EB7-4BB3-A3EE-2796C8B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13969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Rank 1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71F300-28D4-4A07-9754-FA95D4A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3969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>
                <a:solidFill>
                  <a:srgbClr val="C62721"/>
                </a:solidFill>
              </a:rPr>
              <a:t>Wrong case is clinically similar.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C21A27A-71DB-4F2B-96A8-BFC9CAF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59689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DD7EBCC-8649-45C5-9358-432BF8E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64261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Top-k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925D640-17DB-48F8-AEDA-E357031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64261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414B5A"/>
                </a:solidFill>
              </a:rPr>
              <a:t>Several reports enter one prompt.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C02EF85-D477-4AA7-8414-7C169769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9981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45CCCD7-E5A5-4D13-B969-73B21EB2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314553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Answer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9639E6F-DA3C-4462-93CC-2141A03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14553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414B5A"/>
                </a:solidFill>
              </a:rPr>
              <a:t>A coherent mixed-case response is generated.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93A1D0E8-4E40-4240-9E03-CC5246CF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478024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62721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735760BD-9D12-45E7-B71A-CF4A798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80944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62721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06BF7B1-3D60-49DE-99F7-34945A91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3749040"/>
            <a:ext cx="25054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191919"/>
                </a:solidFill>
              </a:rPr>
              <a:t>Local support can exist even when case ownership is wrong.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EA8D05C2-8E23-437C-99B2-F1BD71A6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4572000"/>
            <a:ext cx="2505456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312DCB5-7242-4AD6-A708-0EF2CBE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4636008"/>
            <a:ext cx="23225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02C67"/>
                </a:solidFill>
              </a:rPr>
              <a:t>Risk: cross-case contamination.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40B3BF1-F4DF-482F-8847-8B34FF7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1783080"/>
            <a:ext cx="9601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9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e5ea90cf6044a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8624" y="1828800"/>
            <a:ext cx="840310" cy="1024128"/>
          </a:xfrm>
          <a:prstGeom xmlns:a="http://schemas.openxmlformats.org/drawingml/2006/main" prst="rect">
            <a:avLst/>
          </a:prstGeom>
        </p:spPr>
      </p:pic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4554421-9F68-489F-ACC9-DB7DF3C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83080"/>
            <a:ext cx="9601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1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3c0419b08b14cc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0184" y="1828800"/>
            <a:ext cx="840310" cy="1024128"/>
          </a:xfrm>
          <a:prstGeom xmlns:a="http://schemas.openxmlformats.org/drawingml/2006/main" prst="rect">
            <a:avLst/>
          </a:prstGeom>
        </p:spPr>
      </p:pic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C21A4984-CA4F-43A2-9F3D-DAEF673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06324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EFDE743-0EC7-434E-8AA1-566D0C2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09067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Retrieved case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10CD1FE-D777-4523-98AA-566227B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9067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Wrong patient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A07B3013-131F-4197-91D1-1B7A53F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42900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16C85FB2-5BF9-40E8-96D8-E9BD170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45643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Support audit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5155DEC0-D615-4965-B402-F43CA593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45643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83.4%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91613C5E-F7F3-4904-8837-2BD5FAD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79476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98520F88-8FD6-46FA-8FF7-22F3A10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82219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Target match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B02B321-CB36-4E4C-9755-FC6F49F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82219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No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E8DF2A-2CB0-4D50-9586-C20F2E0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4233672"/>
            <a:ext cx="25054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191919"/>
                </a:solidFill>
              </a:rPr>
              <a:t>The checker asks whether the answer follows from retrieved evidence.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9C53F152-D213-433E-8B12-8385093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4800600"/>
            <a:ext cx="250545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F9008B56-2E6A-4412-9E80-5F4CC3E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83717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1">
                <a:solidFill>
                  <a:srgbClr val="002C67"/>
                </a:solidFill>
              </a:rPr>
              <a:t>But retrieved evidence may belong to the wrong case.</a:t>
            </a: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48578A2A-AF68-4A4F-BCA7-F0F0EBE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10012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98CE5E75-CAB4-4E15-93F4-4F6F9CB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5504"/>
            <a:ext cx="9646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3810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FFFFFF"/>
                </a:solidFill>
              </a:rPr>
              <a:t>Evidence faithfulness and patient correctness are different properties.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112B1379-A764-4ECE-801E-3B200A0F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1576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5F92E982-5CED-4576-AA3E-40CAFEE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5751576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>
            <a:solidFill>
              <a:srgbClr val="E6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827EC89E-565A-4B64-A3DC-8F507BE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5751576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05"/>
          </a:solidFill>
          <a:ln xmlns:a="http://schemas.openxmlformats.org/drawingml/2006/main">
            <a:solidFill>
              <a:srgbClr val="FFCB0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9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2ba696954c8497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5916168"/>
            <a:ext cx="2240280" cy="218508"/>
          </a:xfrm>
          <a:prstGeom xmlns:a="http://schemas.openxmlformats.org/drawingml/2006/main" prst="rect">
            <a:avLst/>
          </a:prstGeom>
        </p:spPr>
      </p:pic>
      <p:pic>
        <p:nvPicPr>
          <p:cNvPr id="120" name="Picture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410d63ce2640c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8592" y="5504688"/>
            <a:ext cx="1582393" cy="4937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115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AA37DC29-1FA1-4AB9-9581-832F1B97BA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8000676D-9AFF-4351-B419-9CD1C1B0B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C2EB2622-72DE-4508-AEDA-AAD80B403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da7c82b7a0f4f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4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850582107b447d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864805F-9621-4BEA-AC84-78E278EE8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37B66B2-7ABE-463C-8F22-E05B603F4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Research questions and delivered contributions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24D2F9FF-2F70-436C-A906-E5C36706D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1005840"/>
            <a:ext cx="1097280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9451FD69-AC17-4E82-AA5B-FC7AF3AB5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161288"/>
            <a:ext cx="10469880" cy="236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31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Aim: preserve case boundaries and distinguish retrieval correctness from evidence faithfulness.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8D0BC0EB-5678-438D-BBD9-27BAB66F0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38528"/>
            <a:ext cx="51206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Research questions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B96297B6-1F2C-43A9-959B-78880A37E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304288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2F68DCDE-0DF3-460F-8573-3C5FF818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363724"/>
            <a:ext cx="420624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RQ1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C7D0939-3040-417A-9BBE-9347712AC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295144"/>
            <a:ext cx="4526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does RAG affect report-grounded answer quality versus LLM-only?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80C16856-082A-4454-B6DA-3D4B265F3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16352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7E664CDE-EF67-4D7C-A9CB-3DEBBFCBC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2875788"/>
            <a:ext cx="420624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RQ2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11755350-EBD6-4D28-AF05-ADE9E29B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2807208"/>
            <a:ext cx="4526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How do sparse, dense, hybrid, reranked, and adaptive retrieval compare?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01E0538-D83E-4637-8D10-EFD9D45F6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28416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9A3D979B-134E-48D7-BEB0-A363C9D3E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387852"/>
            <a:ext cx="420624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RQ3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B92B4442-C6AE-47CB-9880-5CF3D66E7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319272"/>
            <a:ext cx="4526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Where does evidence checking fail to protect against wrong-patient retrieval?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21294F61-3D9F-4859-9436-47251C220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840480"/>
            <a:ext cx="566928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AF7F989D-4744-4EE1-814F-550191F59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3899916"/>
            <a:ext cx="420624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RQ4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9F5EAE82-EE21-41C6-9F21-F2C70C3C9B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888" y="3831336"/>
            <a:ext cx="4526280" cy="2926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What changes when patient identity is supplied as explicit case scope?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9C1B134-AC5A-4B29-A8D5-396E622E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938528"/>
            <a:ext cx="475488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Delivered contributions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83991C7D-32BD-4346-A3AD-5665545B8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304288"/>
            <a:ext cx="9601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275176B-8C06-4F28-A18B-E663C163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368296"/>
            <a:ext cx="804672" cy="170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Data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CE6D4D3-7E4C-4A5C-9DB9-F2505F497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295144"/>
            <a:ext cx="379476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real OpenI case records with reports and linked image metadata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D326AD39-5932-4569-A7EB-03826E85C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2889504"/>
            <a:ext cx="9601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30200959-E368-406B-9241-68A16092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953512"/>
            <a:ext cx="804672" cy="170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Compare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7A980D6-6664-4352-A314-D756C93E7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2880360"/>
            <a:ext cx="3794760" cy="347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lexical, dense, hybrid, adaptive, generation, and extractive baselines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D6EF40D6-2E33-4A2C-AAFD-E0322E087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3474720"/>
            <a:ext cx="9601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2BA17FB-FCD5-4DCF-91BA-B5CB7A3442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3538728"/>
            <a:ext cx="804672" cy="170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3E3A3492-ADC8-41CA-AE39-66BC87A3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3465576"/>
            <a:ext cx="3794760" cy="347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cross-case contamination, oracle retrieval, verifier stress, abstention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E1A87DA9-08A1-4E11-B9B7-7B050081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059936"/>
            <a:ext cx="96012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D4E8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308D1D6B-179B-4C1F-AC48-696D6C0CF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4123944"/>
            <a:ext cx="804672" cy="1706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Deliver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EDD7779C-9224-4214-B293-B6F8F4BC11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79" y="4050792"/>
            <a:ext cx="3794760" cy="3471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reproducible dashboard, traces, frozen results, and a preserved blinded-review protocol</a:t>
            </a:r>
          </a:p>
        </p:txBody>
      </p:sp>
      <p:sp>
        <p:nvSpPr>
          <p:cNvPr id="37" name="Rounded Rectangle 36">
            <a:extLst xmlns:a="http://schemas.openxmlformats.org/drawingml/2006/main">
              <a:ext uri="{FF2B5EF4-FFF2-40B4-BE49-F238E27FC236}">
                <a16:creationId xmlns:a16="http://schemas.microsoft.com/office/drawing/2014/main" id="{08A63E32-FC5B-477E-B60A-BC8DDA468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4828032"/>
            <a:ext cx="48006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97D8FD15-7DFF-46B0-B732-B845A832B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956048"/>
            <a:ext cx="4480560" cy="3413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Contribution: reproducible boundary-aware failure analysis, not a clinical deployment claim.</a:t>
            </a:r>
          </a:p>
        </p:txBody>
      </p:sp>
    </p:spTree>
    <p:extLst>
      <p:ext uri="{BB962C8B-B14F-4D97-AF65-F5344CB8AC3E}">
        <p14:creationId xmlns:p14="http://schemas.microsoft.com/office/powerpoint/2010/main" val="626515174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5a5e9f754ce4e8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3720" y="45720"/>
            <a:ext cx="2971800" cy="289857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598DBC80-582D-47FB-BE00-D0A354C8E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9184"/>
            <a:ext cx="8732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19CD8D26-76AF-4E3C-A713-B793D8DDE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29184"/>
            <a:ext cx="25603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BCB61F0A-D879-44D6-ADD6-36F54510A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329184"/>
            <a:ext cx="78638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56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3de5b671c54d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457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6A198E6B-00F0-4E24-ADBC-FC49E074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712" y="64922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DA29E7A-723F-42AA-8B23-99DB5867B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Two benchmarks answer different questions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51A629BA-1D4A-4493-904E-5650CDC1A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34440"/>
            <a:ext cx="292608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V1: open-corpus stress test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79D2A615-073F-497C-A64C-86E1CA32B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1600200"/>
            <a:ext cx="265176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735D9759-D016-4FD0-8937-FC09391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673352"/>
            <a:ext cx="8686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Cases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E8CA4A8-89AA-42F2-B682-E333358B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1673352"/>
            <a:ext cx="1417320" cy="313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 cases / 360 questions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E1E942CF-AD44-455C-8DCE-75EB92EE9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203704"/>
            <a:ext cx="265176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F2D694C-7D28-4FD2-85D1-BE56D0287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276856"/>
            <a:ext cx="8686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Split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0FFD034-9AD9-4704-B064-98B355528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276856"/>
            <a:ext cx="1417320" cy="313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84 development / 36 held-out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13948EB-832B-48AF-A46B-A72A6092F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2807208"/>
            <a:ext cx="265176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40929268-5F83-4E25-810F-20F4CDA11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880360"/>
            <a:ext cx="8686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Task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6550C72F-58B0-4D27-9B5A-B79B3DDC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2880360"/>
            <a:ext cx="1417320" cy="313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retrieve one target from the corpus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A69296D8-256A-47C7-8680-75703B7F0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3410712"/>
            <a:ext cx="265176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AA73B8FF-6000-4053-96D2-7CF6E14C0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83864"/>
            <a:ext cx="8686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Risk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1D1281-60E9-4B84-8DCA-CCAC4FBCF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0512" y="3483864"/>
            <a:ext cx="1417320" cy="3139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1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query ambiguity and wrong-patient retrieval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80779653-36C3-4A54-B359-5F7B46DD8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7639" y="1234440"/>
            <a:ext cx="338328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V2: patient-scoped workflow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23BEF22C-9A71-4D06-A759-1FC160F9F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1737360"/>
            <a:ext cx="30175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3787A489-F997-440C-9BE1-D565F7AB7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1828800"/>
            <a:ext cx="1051560" cy="19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Main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D8F0D9FE-67B0-457A-80C2-BDCD237B2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1828800"/>
            <a:ext cx="160020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600 previously unused cases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AF6460A-3D1C-49BF-A1AE-B07B2392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2450591"/>
            <a:ext cx="30175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6FC4175-3262-49BD-90D5-3A917B20A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2542032"/>
            <a:ext cx="1051560" cy="19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Confirm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1F34D36D-4C54-4B56-92F6-F475AB427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2542032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120 disjoint confirmation cases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32439D82-999C-44EC-9838-BE99C8E92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9080" y="3163824"/>
            <a:ext cx="3017520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9496E50-BF63-4B52-B36F-6AD378D6A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528" y="3255264"/>
            <a:ext cx="1051560" cy="191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1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C6655DFC-D33D-44F8-BFDB-AD21677C7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9240" y="3255264"/>
            <a:ext cx="160020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ID supplied; evidence case-filtered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8EC7E35-1AD2-488B-8D37-3D1B8821E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1234440"/>
            <a:ext cx="338328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Controls and evaluation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6B2B3485-6668-4D9E-B6B1-F1D3E5E64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1600200"/>
            <a:ext cx="11430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725C5E55-62DE-44A0-8554-23B543110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1668780"/>
            <a:ext cx="100584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Generator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F05598AA-620E-41AA-A0CC-C865927CD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1627632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Qwen2.5-1.5B-Instruct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53C64212-F0DF-46F4-BAEE-73E37CE06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112264"/>
            <a:ext cx="11430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8A2E483-DE9E-4002-9D72-F2F11410E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180844"/>
            <a:ext cx="1005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Retrieval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65682E0A-462F-4DE6-8D28-42BDBA4AA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139696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BM25, MedCPT, hybrid, adaptive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FF3F845C-F1D0-45C4-A739-8944E1B0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624328"/>
            <a:ext cx="11430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24A3B9C1-5765-45AB-BDD4-7D21E5740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2692908"/>
            <a:ext cx="1005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Verifier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28C9ADEC-D7E9-45F0-9FFD-4AE44B657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651760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rules + Medical-NLI audit</a:t>
            </a:r>
          </a:p>
        </p:txBody>
      </p:sp>
      <p:sp>
        <p:nvSpPr>
          <p:cNvPr id="42" name="Rounded Rectangle 41">
            <a:extLst xmlns:a="http://schemas.openxmlformats.org/drawingml/2006/main">
              <a:ext uri="{FF2B5EF4-FFF2-40B4-BE49-F238E27FC236}">
                <a16:creationId xmlns:a16="http://schemas.microsoft.com/office/drawing/2014/main" id="{4857E388-6F83-4BC0-BF0B-3CA6BFA6F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136392"/>
            <a:ext cx="11430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454D3794-2A59-4326-8F9B-E51009794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204972"/>
            <a:ext cx="1005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Statistics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B60C8ED1-6F94-4E11-B2C2-2674AEA23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163824"/>
            <a:ext cx="224028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grouped bootstrap + paired tests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74829E07-0B65-465A-A662-5F268E649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3648456"/>
            <a:ext cx="11430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08A1F310-8CDE-495F-9EC3-8F558BD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2127" y="3717036"/>
            <a:ext cx="1005840" cy="1554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8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Human review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1A9A0FB1-533E-4E0B-81C2-3D2080CE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3675888"/>
            <a:ext cx="224028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Protocol retained; no ratings or validation claim</a:t>
            </a:r>
          </a:p>
        </p:txBody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1F499E78-824A-480D-A076-39FB43801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5230368"/>
            <a:ext cx="10835640" cy="6766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DD9BB586-9F7D-4AB0-9092-B73439D25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5394960"/>
            <a:ext cx="1033272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4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V1 tests open-corpus retrieval; V2 tests patient-isolated workflow control. Scores are not directly comparable.</a:t>
            </a:r>
          </a:p>
        </p:txBody>
      </p:sp>
    </p:spTree>
    <p:extLst>
      <p:ext uri="{BB962C8B-B14F-4D97-AF65-F5344CB8AC3E}">
        <p14:creationId xmlns:p14="http://schemas.microsoft.com/office/powerpoint/2010/main" val="823359239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2327890-0CF1-4739-AB6C-E95BB378E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EF82D437-2876-4FC9-B6C9-B245C0C71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9C0BE600-3AFE-495A-BC5B-5C8D86843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63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fa05e48f754de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64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2de59dd470c442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8084DD91-CC60-494A-9EB0-636EF42A0A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55F7314-264B-4AA1-BBBA-49B80CFBB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Real OpenI data with case-disjoint evaluation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B1DD78C7-578A-4B2B-A1A6-305A5B3FD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960120"/>
            <a:ext cx="3886200" cy="4663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352AEB6-8399-4243-BFBD-D3EF7959D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1124712"/>
            <a:ext cx="338328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4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Linked report and X-ray case example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7515846A-1DF2-4729-95CB-E9C82ACDE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481328"/>
            <a:ext cx="1481328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0" name="Picture 1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f8fd0990d4407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05256" y="1554480"/>
            <a:ext cx="1440532" cy="1755648"/>
          </a:xfrm>
          <a:prstGeom xmlns:a="http://schemas.openxmlformats.org/drawingml/2006/main" prst="rect">
            <a:avLst/>
          </a:prstGeom>
        </p:spPr>
      </p:pic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0C2DB2E4-D574-4427-AAEB-03C513C53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7168" y="1481328"/>
            <a:ext cx="1481328" cy="19202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72" name="Picture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9d95ead43049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542032" y="1554480"/>
            <a:ext cx="1440532" cy="1755648"/>
          </a:xfrm>
          <a:prstGeom xmlns:a="http://schemas.openxmlformats.org/drawingml/2006/main" prst="rect">
            <a:avLst/>
          </a:prstGeom>
        </p:spPr>
      </p:pic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DD4C7261-6B6B-4B42-A1AC-969B1C8F7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456432"/>
            <a:ext cx="1371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PA view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C27DC41-0273-464F-9F60-24FF95AEC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2032" y="3456432"/>
            <a:ext cx="13716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80" b="0">
                <a:solidFill>
                  <a:srgbClr val="465262"/>
                </a:solidFill>
                <a:latin typeface="Arial"/>
                <a:ea typeface="Arial"/>
                <a:cs typeface="Arial"/>
              </a:rPr>
              <a:t>Lateral view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97B3A8D-2CC7-4516-80CD-1109DC3A1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30752"/>
            <a:ext cx="333756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982813E3-C15E-466C-B22D-33A56935C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3849624"/>
            <a:ext cx="30632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Case ID: </a:t>
            </a: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CXR2041</a:t>
            </a:r>
            <a:r>
              <a:rPr sz="9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   Image refs: </a:t>
            </a: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CXR2041_IM-0685-*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9F64D5AF-7CB3-4F62-AE84-A2B2B6F87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4315968"/>
            <a:ext cx="3337560" cy="9326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96AAB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9854FCA6-79AA-433C-A6D6-4A9B71C8E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443984"/>
            <a:ext cx="30632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Report evidence from XML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948D1811-B5D4-4545-AB38-99E2ADE51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690872"/>
            <a:ext cx="30632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FINDINGS: No pneumothorax. No large pleural effusions. Heart size is normal. No acute focal space opacities.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5AAB4E79-6EC9-43A6-A806-D88172D76E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038344"/>
            <a:ext cx="306324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0" b="1">
                <a:solidFill>
                  <a:srgbClr val="000000"/>
                </a:solidFill>
                <a:latin typeface="Arial"/>
                <a:ea typeface="Arial"/>
                <a:cs typeface="Arial"/>
              </a:rPr>
              <a:t>IMPRESSION: No acute cardiopulmonary abnormalities.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B781464-AEC9-4417-93DD-A552CAD9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005840"/>
            <a:ext cx="297180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Processed inventory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D16051D9-2B98-48F6-B62E-3F18A9471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1417320"/>
            <a:ext cx="29718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9247458F-BD00-439B-9CA5-EE105E2C9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508760"/>
            <a:ext cx="98755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Cases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4A04B95-0A26-437F-9800-C936508A2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1508760"/>
            <a:ext cx="1389888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solidFill>
                  <a:srgbClr val="1D4E89"/>
                </a:solidFill>
                <a:latin typeface="Arial"/>
                <a:ea typeface="Arial"/>
                <a:cs typeface="Arial"/>
              </a:rPr>
              <a:t>3,851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41F9B9CD-F0C1-4A68-94B3-1A35B5F57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1801368"/>
            <a:ext cx="26060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stable case ID + report sections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B589055C-B6FB-4DE1-A545-CD81461719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331720"/>
            <a:ext cx="29718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902434F7-B8EF-4CE2-9301-7411445A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423160"/>
            <a:ext cx="98755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Images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0AF582F-4835-4532-A94C-F6798B6B7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2423160"/>
            <a:ext cx="1389888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solidFill>
                  <a:srgbClr val="1D4E89"/>
                </a:solidFill>
                <a:latin typeface="Arial"/>
                <a:ea typeface="Arial"/>
                <a:cs typeface="Arial"/>
              </a:rPr>
              <a:t>7,466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3D131488-3E88-4470-A0DE-7915427DA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2715768"/>
            <a:ext cx="26060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linked projection metadata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C1F27AF8-D94B-4A06-893F-3510BD6E09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3246120"/>
            <a:ext cx="29718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08C73B3B-B904-4362-B230-65F9D9E47E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337560"/>
            <a:ext cx="987552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V1 held-out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FD09117-594A-44DF-89F2-C12C8DF88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337560"/>
            <a:ext cx="1389888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1100" b="1">
                <a:solidFill>
                  <a:srgbClr val="1D4E89"/>
                </a:solidFill>
                <a:latin typeface="Arial"/>
                <a:ea typeface="Arial"/>
                <a:cs typeface="Arial"/>
              </a:rPr>
              <a:t>36 cases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B2AA0B5C-68EC-4387-AF91-5021C8B7C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3630168"/>
            <a:ext cx="26060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3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108 questions; no case overlap</a:t>
            </a: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12F602AB-F012-4DF6-8CBB-E335270EF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334256"/>
            <a:ext cx="2971800" cy="7498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48591E38-FDF9-46B9-917C-FB4FC57D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462272"/>
            <a:ext cx="2606040" cy="2042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Why the split matters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2D5191B-0987-412E-8876-F72987A12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83480" y="4736592"/>
            <a:ext cx="2606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9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Grouping is by case, not by question row.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93ADF7E0-0DBB-4116-ABA2-924EE7A9D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005840"/>
            <a:ext cx="306324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V2 confirmation</a:t>
            </a: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88244F13-5910-4786-848A-F744E0AE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3879" y="1417320"/>
            <a:ext cx="3127248" cy="2926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DBBD5825-3A36-466E-82A5-4A3B53B3E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609344"/>
            <a:ext cx="26974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3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120 unseen cases / 360 questions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3D9985A9-C2E2-4C19-AB4A-86221C645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199339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33DFC929-F06D-479A-83FF-372C60A81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1988820"/>
            <a:ext cx="2340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case-disjoint cohort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3A65D980-0C1E-47E1-BB13-CCE222098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31343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B15811CA-C3EC-442C-B73C-04AB28CAC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308860"/>
            <a:ext cx="2340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three report-derived prompts per case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C27008B5-EE3E-4F35-A463-23BC39397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63347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89DA66CD-874F-442A-A5AC-506023B46C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628900"/>
            <a:ext cx="2340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patient ID supplied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6D4C0621-3570-4C1B-8483-02246FCAD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295351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0168978E-57AF-4DE2-9B9A-DE17968A23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2948940"/>
            <a:ext cx="2340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text-only model evidence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21A7FE34-351D-4B60-BA48-6E7F7C2A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4192" y="327355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5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13F6F132-877A-4223-8CC5-92EC3927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3648" y="3268980"/>
            <a:ext cx="2340863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5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linked images shown, not modeled</a:t>
            </a:r>
          </a:p>
        </p:txBody>
      </p:sp>
      <p:sp>
        <p:nvSpPr>
          <p:cNvPr id="52" name="Rounded Rectangle 51">
            <a:extLst xmlns:a="http://schemas.openxmlformats.org/drawingml/2006/main">
              <a:ext uri="{FF2B5EF4-FFF2-40B4-BE49-F238E27FC236}">
                <a16:creationId xmlns:a16="http://schemas.microsoft.com/office/drawing/2014/main" id="{0B120163-7D67-4584-9F41-8FF7D64D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3730752"/>
            <a:ext cx="2633472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3547ED81-922B-4041-A987-50FF7E153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0" y="3840480"/>
            <a:ext cx="2395728" cy="30144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All records preserve case ownership and source sections.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BFE53256-2B5C-4641-9D0F-DD9639230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440680"/>
            <a:ext cx="6510528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F1B14FF-D6A7-4690-9707-C2C5A8CC5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5568696"/>
            <a:ext cx="6053328" cy="377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Modeled evidence is report text; linked X-rays support traceability and dashboard presentation only.</a:t>
            </a:r>
          </a:p>
        </p:txBody>
      </p:sp>
    </p:spTree>
    <p:extLst>
      <p:ext uri="{BB962C8B-B14F-4D97-AF65-F5344CB8AC3E}">
        <p14:creationId xmlns:p14="http://schemas.microsoft.com/office/powerpoint/2010/main" val="106251403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4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0715b2c4945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3720" y="45720"/>
            <a:ext cx="2971800" cy="289857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8A65949-A0AA-4F82-9E68-A9589DAA8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9184"/>
            <a:ext cx="8732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FBE49173-B882-4D70-B99E-65DDFAD67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29184"/>
            <a:ext cx="25603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16732C85-9DC3-43A7-9A5C-69276B6FB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329184"/>
            <a:ext cx="78638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d35eee7b9940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457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EDD8CE0C-1AE8-4E46-9055-8BEE75D8A9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712" y="64922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FD1A222-B356-44A5-9E77-67FEF6403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8580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The Agent acts through explicit, auditable stages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5F172672-6941-4903-9E21-27C457191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6B3E16EA-A1F1-4FB9-AAFF-54862A09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1488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42AB65D1-7337-471B-BC4D-1BA1D7CF9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517904"/>
            <a:ext cx="19659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1. Scope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941E9214-F084-482C-931A-1E3D27712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1984248"/>
            <a:ext cx="178308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case ID or
allowed corpus
+ ownership
boundary</a:t>
            </a:r>
          </a:p>
        </p:txBody>
      </p:sp>
      <p:sp>
        <p:nvSpPr>
          <p:cNvPr id="13" name="Connector 12">
            <a:extLst xmlns:a="http://schemas.openxmlformats.org/drawingml/2006/main">
              <a:ext uri="{FF2B5EF4-FFF2-40B4-BE49-F238E27FC236}">
                <a16:creationId xmlns:a16="http://schemas.microsoft.com/office/drawing/2014/main" id="{0B1CE79F-B4F2-4A0D-80B4-3A80FF261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4640" y="233172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2C67"/>
            </a:solidFill>
            <a:tailEnd type="triangle" w="lg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61222C66-FADC-4341-9FEA-5D7CED7489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417320"/>
            <a:ext cx="214884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6167081-F649-4CEC-94FC-E11ED01A1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0440" y="1417320"/>
            <a:ext cx="21488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3347A249-7381-4F84-B53F-8FEA51635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517904"/>
            <a:ext cx="19659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2. Plan and retrieve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FFA1E13B-1731-4695-915B-0B096544C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320" y="1984248"/>
            <a:ext cx="178308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infer intent
rank evidence
+ adaptive
abstention</a:t>
            </a:r>
          </a:p>
        </p:txBody>
      </p:sp>
      <p:sp>
        <p:nvSpPr>
          <p:cNvPr id="19" name="Connector 18">
            <a:extLst xmlns:a="http://schemas.openxmlformats.org/drawingml/2006/main">
              <a:ext uri="{FF2B5EF4-FFF2-40B4-BE49-F238E27FC236}">
                <a16:creationId xmlns:a16="http://schemas.microsoft.com/office/drawing/2014/main" id="{C896C1A6-3DAA-495E-80E6-82995F533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0" y="233172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2C67"/>
            </a:solidFill>
            <a:tailEnd type="triangle" w="lg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494D809B-7D41-48B2-B539-E6F83C543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214884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E836352F-6F6F-4751-9106-92D816D05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1417320"/>
            <a:ext cx="21488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D01B5928-6D85-456E-BD88-B6131FFC7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520" y="1517904"/>
            <a:ext cx="19659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3. Generate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BC0C8A9-0675-4D2E-98CE-184D99D7AD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84248"/>
            <a:ext cx="178308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evidence-only
prompt +
structured
answer</a:t>
            </a:r>
          </a:p>
        </p:txBody>
      </p:sp>
      <p:sp>
        <p:nvSpPr>
          <p:cNvPr id="25" name="Connector 24">
            <a:extLst xmlns:a="http://schemas.openxmlformats.org/drawingml/2006/main">
              <a:ext uri="{FF2B5EF4-FFF2-40B4-BE49-F238E27FC236}">
                <a16:creationId xmlns:a16="http://schemas.microsoft.com/office/drawing/2014/main" id="{6F538210-FF63-440A-B003-A222090BD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331720"/>
            <a:ext cx="685800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002C67"/>
            </a:solidFill>
            <a:tailEnd type="triangle" w="lg" len="lg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B87BE35-ED74-42C1-BF95-6E68C97E6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417320"/>
            <a:ext cx="214884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54FC067C-BB65-4527-ACE8-327A03759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9720" y="1417320"/>
            <a:ext cx="214884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F7D1A5F-6A19-4951-B273-17B351289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517904"/>
            <a:ext cx="196596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4. Audit and act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59F99406-FBFA-4599-A338-E125C580C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1984248"/>
            <a:ext cx="1783080" cy="792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claim checks
preserve | flag
review |
abstain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0A591AD-B930-473B-A4B6-CAB5E2F4C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703320"/>
            <a:ext cx="5074920" cy="17830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3C16C9C0-C2D5-4F8B-87E1-7F2475A6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913632"/>
            <a:ext cx="5166360" cy="2560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600" b="1"/>
              <a:t>Why this is an Agent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53816C8-CCC0-4CE2-A53C-98A2E9808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297680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•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81B7CAB9-62B0-4515-B826-6B433C087E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279392"/>
            <a:ext cx="4754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It selects retrieval or abstention actions.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A02D264D-7597-4ACD-B63E-F71E7B5FB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59943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•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B748B5D3-F015-4A6B-A25A-D27894714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581144"/>
            <a:ext cx="475488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It emits an inspectable action trace.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2DE4ED1-FFAE-4707-88AD-A8D138FE7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901184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•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2536DCB4-1B49-43F0-BFFF-D1BFC1CBC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82896"/>
            <a:ext cx="48920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spAutoFit/>
          </a:bodyPr>
          <a:lstStyle xmlns:a="http://schemas.openxmlformats.org/drawingml/2006/main"/>
          <a:p xmlns:a="http://schemas.openxmlformats.org/drawingml/2006/main">
            <a:pPr>
              <a:spcBef>
                <a:spcPts val="0"/>
              </a:spcBef>
              <a:spcAft>
                <a:spcPts val="0"/>
              </a:spcAft>
              <a:buNone/>
            </a:pPr>
            <a:r>
              <a:rPr sz="1300" b="0"/>
              <a:t>A calibrated policy controls preserve, flag, or abstain.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48D57B8F-D1D0-4951-B41A-ED02B19D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703320"/>
            <a:ext cx="5074920" cy="123444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00016095-3DBB-43EC-BD1F-96508BE6F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080" y="3858768"/>
            <a:ext cx="46177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Important boundary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15A91D4F-3B25-4EC3-8E3F-D23FACADC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160520"/>
            <a:ext cx="4526280" cy="4572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This is not an autonomous clinical agent. Images are not model inputs, and verification is advisory.</a:t>
            </a:r>
          </a:p>
        </p:txBody>
      </p:sp>
    </p:spTree>
    <p:extLst>
      <p:ext uri="{BB962C8B-B14F-4D97-AF65-F5344CB8AC3E}">
        <p14:creationId xmlns:p14="http://schemas.microsoft.com/office/powerpoint/2010/main" val="920642350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445535-FDF5-46A5-A35A-18889A6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EFF31E-C3D7-47B0-9FD2-24C12D8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E78101-133D-42C7-A438-4DBBCA3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9e6009d6ba434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f05fcf503f49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A687B2-DE2A-4CE6-AE62-DA1CE19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848BDD-1AB0-4ECE-B372-AFBA7C3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V1 retrieval remains the dominant bottleneck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094F54-1034-47D1-B8CD-A509693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5394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Locked retrieval metrics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528D01-0C93-4EC0-92E6-9BD808E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457F23-C169-4EBC-82E2-C4407A5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49047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Hit@1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EA48B5-06E6-4ADF-A107-4809377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47218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0.287: only 31 of 108 targets at rank 1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4B4F993-45E2-4462-9A74-600C56D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29967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7155F7-6E59-4439-B44F-EB9353E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30551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Hit@20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10E950-ECD6-4347-B25A-A6C8A26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112263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0.509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8CC02AE-A789-4136-90B1-5FA572FC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7004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7F8750-51A3-4A5C-BE3F-924348E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7063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MRR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D780443-DC9C-4CA7-8387-B497308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75234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0.331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4490FF-B588-45CC-A890-096A99B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012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735466-8787-4E13-8081-A052D91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1071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Coverage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5E6A52-FE49-4CD3-8934-14A5D4C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39242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0.926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225E0F2-2552-4F0E-9655-C3586EA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5020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533EB7-70E9-4A56-A8C3-89B1DBD7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50792"/>
            <a:ext cx="1170432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Abstention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1B87ED-AA66-421C-8DC5-F39BE9C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03250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0.074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3FBDE3-FBEB-45A5-A709-D41E1EB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05840"/>
            <a:ext cx="457200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Retrieval-conditioned answer quality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EB29D63-59F7-496E-B617-6FAC1E8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389888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8EBF26-BABC-4061-8581-E46B8B4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48132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Correct case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56B6945-F8A4-478C-9922-5A8B067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472184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Token-F1 0.451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68C0CBE-E4BB-4B7F-A5DB-451C839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75104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9F0CEDE-D6C2-456C-B713-FEC5F19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066544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Wrong case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49F014-F0ED-4C8F-8742-6981907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057400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Token-F1 0.117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282E2F0-E839-43A2-AD1C-78411052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60320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9EE48EF-6E0C-4C63-82E6-B9AE91C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651760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Oracle evidence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BD72DBF-848C-4A6D-9D34-829AB54A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642616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Token-F1 0.425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E00D00A-9D4D-4851-867B-9D5C6C7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45536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8FAFF8F-F257-4C09-9FE4-29CBDEE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36976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Final system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FAA3C5A-A8E5-46EE-BE0E-A87B62A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227832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verified Token-F1 0.206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1D081675-6371-47D8-83F6-8AD4CCC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6880750-671B-4A43-B401-A575C92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822191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Oracle gap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DF8B4F-026D-46C3-A59C-F88A322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813048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+0.219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0B7055B-3630-48FD-AC22-8554E1D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49240"/>
            <a:ext cx="10012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A034FAD-450B-4CDF-94FE-D01EADE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77256"/>
            <a:ext cx="95554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Retrieval failure caps every downstream component: generation cannot recover evidence it never receives.</a:t>
            </a:r>
          </a:p>
        </p:txBody>
      </p:sp>
    </p:spTree>
    <p:extLst>
      <p:ext uri="{BB962C8B-B14F-4D97-AF65-F5344CB8AC3E}">
        <p14:creationId xmlns:p14="http://schemas.microsoft.com/office/powerpoint/2010/main" val="2087289066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445535-FDF5-46A5-A35A-18889A6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EFF31E-C3D7-47B0-9FD2-24C12D8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E78101-133D-42C7-A438-4DBBCA3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90e1e857b0d4f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eb9f9e89a88443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A687B2-DE2A-4CE6-AE62-DA1CE19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10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848BDD-1AB0-4ECE-B372-AFBA7C3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V1 gains are not statistically conclusive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094F54-1034-47D1-B8CD-A509693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5394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Held-out Token-F1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528D01-0C93-4EC0-92E6-9BD808E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457F23-C169-4EBC-82E2-C4407A5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49047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LLM only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EA48B5-06E6-4ADF-A107-4809377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47218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0.079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4B4F993-45E2-4462-9A74-600C56D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29967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7155F7-6E59-4439-B44F-EB9353E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30551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Report-RAG + checker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10E950-ECD6-4347-B25A-A6C8A26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112263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0.153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8CC02AE-A789-4136-90B1-5FA572FC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7004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7F8750-51A3-4A5C-BE3F-924348E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70632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Case-BM25 + checker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D780443-DC9C-4CA7-8387-B497308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75234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0.172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4490FF-B588-45CC-A890-096A99B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012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735466-8787-4E13-8081-A052D91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1071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Previous hybrid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5E6A52-FE49-4CD3-8934-14A5D4C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39242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0.204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225E0F2-2552-4F0E-9655-C3586EA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5020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533EB7-70E9-4A56-A8C3-89B1DBD7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50792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Final adaptive system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1B87ED-AA66-421C-8DC5-F39BE9C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03250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0.206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3FBDE3-FBEB-45A5-A709-D41E1EB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05840"/>
            <a:ext cx="457200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Statistical interpretation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EB29D63-59F7-496E-B617-6FAC1E8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389888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8EBF26-BABC-4061-8581-E46B8B4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481328"/>
            <a:ext cx="12344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95% confidence interval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56B6945-F8A4-478C-9922-5A8B067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472184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[0.167, 0.246]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68C0CBE-E4BB-4B7F-A5DB-451C839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75104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9F0CEDE-D6C2-456C-B713-FEC5F19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066544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vs Case-BM25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49F014-F0ED-4C8F-8742-6981907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057400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+0.035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282E2F0-E839-43A2-AD1C-78411052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60320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9EE48EF-6E0C-4C63-82E6-B9AE91C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651760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Unadjusted p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BD72DBF-848C-4A6D-9D34-829AB54A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642616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0.0145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E00D00A-9D4D-4851-867B-9D5C6C7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45536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8FAFF8F-F257-4C09-9FE4-29CBDEE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36976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Holm-adjusted p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FAA3C5A-A8E5-46EE-BE0E-A87B62A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227832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0.0870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1D081675-6371-47D8-83F6-8AD4CCC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6880750-671B-4A43-B401-A575C92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822191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RadGraph F1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DF8B4F-026D-46C3-A59C-F88A322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813048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0.163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0B7055B-3630-48FD-AC22-8554E1D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49240"/>
            <a:ext cx="10012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A034FAD-450B-4CDF-94FE-D01EADE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77256"/>
            <a:ext cx="95554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The point estimate improves, but family-wise adjustment prevents a definitive superiority claim.</a:t>
            </a:r>
          </a:p>
        </p:txBody>
      </p:sp>
    </p:spTree>
    <p:extLst>
      <p:ext uri="{BB962C8B-B14F-4D97-AF65-F5344CB8AC3E}">
        <p14:creationId xmlns:p14="http://schemas.microsoft.com/office/powerpoint/2010/main" val="2087289066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20F4EDAD-4038-4505-A551-10EF48BC3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11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3821124-6A7D-461E-877A-D30C770236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 verifier can be faithful to the wrong patient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7564E76-16D0-4CBA-8125-2E3CA6D33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845BD955-F6C6-44E2-8624-61229F6A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7CF99DD-F0C1-457A-8480-FCC3FB7C9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91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1. Wrong case selected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7C7744F8-C47A-4C76-8919-C5CE3C3BE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5A3F1196-BA80-494D-87F9-2D60168F3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CDE617D5-D230-4A6E-A4C2-18DA32FB0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503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2. Local support found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BF62710B-D19C-4490-AB7B-DD1282A83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43000"/>
            <a:ext cx="3017520" cy="39502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4FB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3667F86D-325C-40FD-8880-76F65C895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43000"/>
            <a:ext cx="301752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0F40083-DEB4-43C9-9E79-80ACA0DC1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1152" y="1170432"/>
            <a:ext cx="3017520" cy="3566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1">
                <a:solidFill>
                  <a:srgbClr val="FFFFFF"/>
                </a:solidFill>
              </a:rPr>
              <a:t>3. Patient answer fails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C6EA30A1-FA30-400E-8C77-09DABA20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664" y="1856232"/>
            <a:ext cx="2414016" cy="10972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354EB8E4-D9AE-4731-8198-B512B064F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947672"/>
            <a:ext cx="2139696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00" b="1">
                <a:solidFill>
                  <a:srgbClr val="002C67"/>
                </a:solidFill>
              </a:rPr>
              <a:t>Target: intended case finding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8699010C-D67F-492D-B664-8BB61C39D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331720"/>
            <a:ext cx="2139696" cy="294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 b="1">
                <a:solidFill>
                  <a:srgbClr val="141414"/>
                </a:solidFill>
              </a:rPr>
              <a:t>Retrieved: similar case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BBE78C3A-C35F-4E40-9407-1FF165211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679192"/>
            <a:ext cx="2139696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C62721"/>
                </a:solidFill>
              </a:rPr>
              <a:t>ranked first by semantic similarity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BBC5D4-933E-401C-A476-25A4698461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3246120"/>
            <a:ext cx="2505456" cy="5669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0">
                <a:solidFill>
                  <a:srgbClr val="191919"/>
                </a:solidFill>
              </a:rPr>
              <a:t>The answer is conditioned on the wrong report.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0A45D846-6C82-431A-A13D-FA26354B0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944" y="4297680"/>
            <a:ext cx="2505456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28118067-9E2D-4904-9B48-2AF4FE6B15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384" y="4361688"/>
            <a:ext cx="23225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02C67"/>
                </a:solidFill>
              </a:rPr>
              <a:t>Retrieval ownership is already broken.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7A80727C-01FE-4347-A771-02663060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1783080"/>
            <a:ext cx="2615184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00" b="1">
                <a:solidFill>
                  <a:srgbClr val="002C67"/>
                </a:solidFill>
              </a:rPr>
              <a:t>Verifier reads retrieved evidence</a:t>
            </a:r>
          </a:p>
        </p:txBody>
      </p:sp>
      <p:sp>
        <p:nvSpPr>
          <p:cNvPr id="26" name="Rectangle 25">
            <a:extLst xmlns:a="http://schemas.openxmlformats.org/drawingml/2006/main">
              <a:ext uri="{FF2B5EF4-FFF2-40B4-BE49-F238E27FC236}">
                <a16:creationId xmlns:a16="http://schemas.microsoft.com/office/drawing/2014/main" id="{B667D150-5C05-4393-B842-6DB5F3826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09397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6272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55F9F4D2-4EB7-4BB3-A3EE-2796C8B12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13969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Claim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8471F300-28D4-4A07-9754-FA95D4AB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13969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1">
                <a:solidFill>
                  <a:srgbClr val="C62721"/>
                </a:solidFill>
              </a:rPr>
              <a:t>Answer sentence is plausible.</a:t>
            </a: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7C21A27A-71DB-4F2B-96A8-BFC9CAF3D5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59689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DD7EBCC-8649-45C5-9358-432BF8EB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264261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Evidence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6925D640-17DB-48F8-AEDA-E3570313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264261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414B5A"/>
                </a:solidFill>
              </a:rPr>
              <a:t>A matching sentence is present.</a:t>
            </a:r>
          </a:p>
        </p:txBody>
      </p:sp>
      <p:sp>
        <p:nvSpPr>
          <p:cNvPr id="32" name="Rectangle 31">
            <a:extLst xmlns:a="http://schemas.openxmlformats.org/drawingml/2006/main">
              <a:ext uri="{FF2B5EF4-FFF2-40B4-BE49-F238E27FC236}">
                <a16:creationId xmlns:a16="http://schemas.microsoft.com/office/drawing/2014/main" id="{4C02EF85-D477-4AA7-8414-7C169769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3099816"/>
            <a:ext cx="2468880" cy="3657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45CCCD7-E5A5-4D13-B969-73B21EB2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3145536"/>
            <a:ext cx="59436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00" b="1">
                <a:solidFill>
                  <a:srgbClr val="002C67"/>
                </a:solidFill>
              </a:rPr>
              <a:t>Decision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9639E6F-DA3C-4462-93CC-2141A03B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9432" y="3145536"/>
            <a:ext cx="182880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720" b="0">
                <a:solidFill>
                  <a:srgbClr val="414B5A"/>
                </a:solidFill>
              </a:rPr>
              <a:t>Checker returns supported.</a:t>
            </a:r>
          </a:p>
        </p:txBody>
      </p:sp>
      <p:sp>
        <p:nvSpPr>
          <p:cNvPr id="35" name="Connector 34">
            <a:extLst xmlns:a="http://schemas.openxmlformats.org/drawingml/2006/main">
              <a:ext uri="{FF2B5EF4-FFF2-40B4-BE49-F238E27FC236}">
                <a16:creationId xmlns:a16="http://schemas.microsoft.com/office/drawing/2014/main" id="{93A1D0E8-4E40-4240-9E03-CC5246CF8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478024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62721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Connector 35">
            <a:extLst xmlns:a="http://schemas.openxmlformats.org/drawingml/2006/main">
              <a:ext uri="{FF2B5EF4-FFF2-40B4-BE49-F238E27FC236}">
                <a16:creationId xmlns:a16="http://schemas.microsoft.com/office/drawing/2014/main" id="{735760BD-9D12-45E7-B71A-CF4A798EF0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2980944"/>
            <a:ext cx="0" cy="11887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rgbClr val="C62721"/>
            </a:solidFill>
            <a:prstDash val="dash"/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06BF7B1-3D60-49DE-99F7-34945A912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3749040"/>
            <a:ext cx="2505456" cy="3840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191919"/>
                </a:solidFill>
              </a:rPr>
              <a:t>Local entailment succeeds inside the wrong case.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EA8D05C2-8E23-437C-99B2-F1BD71A69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1064" y="4572000"/>
            <a:ext cx="2505456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6312DCB5-7242-4AD6-A708-0EF2CBE86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2504" y="4636008"/>
            <a:ext cx="232257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002C67"/>
                </a:solidFill>
              </a:rPr>
              <a:t>Support is not patient correctness.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840B3BF1-F4DF-482F-8847-8B34FF72A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1783080"/>
            <a:ext cx="9601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99" name="Picture 4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9a4f3029be4f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78624" y="1828800"/>
            <a:ext cx="840310" cy="1024128"/>
          </a:xfrm>
          <a:prstGeom xmlns:a="http://schemas.openxmlformats.org/drawingml/2006/main" prst="rect">
            <a:avLst/>
          </a:prstGeom>
        </p:spPr>
      </p:pic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A4554421-9F68-489F-ACC9-DB7DF3C9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2752" y="1783080"/>
            <a:ext cx="96012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01" name="Picture 4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f0385bd59540c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30184" y="1828800"/>
            <a:ext cx="840310" cy="1024128"/>
          </a:xfrm>
          <a:prstGeom xmlns:a="http://schemas.openxmlformats.org/drawingml/2006/main" prst="rect">
            <a:avLst/>
          </a:prstGeom>
        </p:spPr>
      </p:pic>
      <p:sp>
        <p:nvSpPr>
          <p:cNvPr id="44" name="Rounded Rectangle 43">
            <a:extLst xmlns:a="http://schemas.openxmlformats.org/drawingml/2006/main">
              <a:ext uri="{FF2B5EF4-FFF2-40B4-BE49-F238E27FC236}">
                <a16:creationId xmlns:a16="http://schemas.microsoft.com/office/drawing/2014/main" id="{C21A4984-CA4F-43A2-9F3D-DAEF6734C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06324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5EFDE743-0EC7-434E-8AA1-566D0C237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09067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Wrong-case rows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910CD1FE-D777-4523-98AA-566227BDD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09067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69 of 108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A07B3013-131F-4197-91D1-1B7A53F36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42900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16C85FB2-5BF9-40E8-96D8-E9BD170F0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45643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Support rate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5155DEC0-D615-4965-B402-F43CA5939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45643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83.4%</a:t>
            </a:r>
          </a:p>
        </p:txBody>
      </p:sp>
      <p:sp>
        <p:nvSpPr>
          <p:cNvPr id="50" name="Rounded Rectangle 49">
            <a:extLst xmlns:a="http://schemas.openxmlformats.org/drawingml/2006/main">
              <a:ext uri="{FF2B5EF4-FFF2-40B4-BE49-F238E27FC236}">
                <a16:creationId xmlns:a16="http://schemas.microsoft.com/office/drawing/2014/main" id="{91613C5E-F7F3-4904-8837-2BD5FAD41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794760"/>
            <a:ext cx="2377440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C4D2E2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98520F88-8FD6-46FA-8FF7-22F3A108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344" y="3822192"/>
            <a:ext cx="998524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1">
                <a:solidFill>
                  <a:srgbClr val="002C67"/>
                </a:solidFill>
              </a:rPr>
              <a:t>Answer F1</a:t>
            </a: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3B02B321-CB36-4E4C-9755-FC6F49F82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2168" y="3822192"/>
            <a:ext cx="1355140" cy="2468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00" b="0">
                <a:solidFill>
                  <a:srgbClr val="141414"/>
                </a:solidFill>
              </a:rPr>
              <a:t>0.117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CFE8DF2A-2CB0-4D50-9586-C20F2E0EF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4233672"/>
            <a:ext cx="2505456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9" b="0">
                <a:solidFill>
                  <a:srgbClr val="191919"/>
                </a:solidFill>
              </a:rPr>
              <a:t>The verifier is answering the wrong question correctly.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9C53F152-D213-433E-8B12-838509342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7184" y="4800600"/>
            <a:ext cx="2505456" cy="2926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5C6"/>
          </a:solidFill>
          <a:ln xmlns:a="http://schemas.openxmlformats.org/drawingml/2006/main" w="12700">
            <a:solidFill>
              <a:srgbClr val="FFC3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F9008B56-2E6A-4412-9E80-5F4CC3E72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837176"/>
            <a:ext cx="2322576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25400" rIns="38100" bIns="2540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60" b="1">
                <a:solidFill>
                  <a:srgbClr val="002C67"/>
                </a:solidFill>
              </a:rPr>
              <a:t>Case ownership must be enforced first.</a:t>
            </a:r>
          </a:p>
        </p:txBody>
      </p:sp>
      <p:sp>
        <p:nvSpPr>
          <p:cNvPr id="56" name="Rounded Rectangle 55">
            <a:extLst xmlns:a="http://schemas.openxmlformats.org/drawingml/2006/main">
              <a:ext uri="{FF2B5EF4-FFF2-40B4-BE49-F238E27FC236}">
                <a16:creationId xmlns:a16="http://schemas.microsoft.com/office/drawing/2014/main" id="{48578A2A-AF68-4A4F-BCA7-F0F0EBEA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5138928"/>
            <a:ext cx="1001268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 w="12700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98CE5E75-CAB4-4E15-93F4-4F6F9CBA4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5175504"/>
            <a:ext cx="96469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8100" tIns="0" rIns="38100" bIns="0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10" b="1">
                <a:solidFill>
                  <a:srgbClr val="FFFFFF"/>
                </a:solidFill>
              </a:rPr>
              <a:t>The verifier asks 'supported here?', not 'correct patient's record?'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112B1379-A764-4ECE-801E-3B200A0FA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51576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C67"/>
          </a:solidFill>
          <a:ln xmlns:a="http://schemas.openxmlformats.org/drawingml/2006/main">
            <a:solidFill>
              <a:srgbClr val="002C6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5F92E982-5CED-4576-AA3E-40CAFEEFF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5751576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0000"/>
          </a:solidFill>
          <a:ln xmlns:a="http://schemas.openxmlformats.org/drawingml/2006/main">
            <a:solidFill>
              <a:srgbClr val="E600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827EC89E-565A-4B64-A3DC-8F507BE2B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5751576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B05"/>
          </a:solidFill>
          <a:ln xmlns:a="http://schemas.openxmlformats.org/drawingml/2006/main">
            <a:solidFill>
              <a:srgbClr val="FFCB0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19" name="Picture 6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c5609dc008438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5916168"/>
            <a:ext cx="2240280" cy="218508"/>
          </a:xfrm>
          <a:prstGeom xmlns:a="http://schemas.openxmlformats.org/drawingml/2006/main" prst="rect">
            <a:avLst/>
          </a:prstGeom>
        </p:spPr>
      </p:pic>
      <p:pic>
        <p:nvPicPr>
          <p:cNvPr id="120" name="Picture 6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96727347c1491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308592" y="5504688"/>
            <a:ext cx="1582393" cy="4937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2381157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6B445535-FDF5-46A5-A35A-18889A66F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2CEFF31E-C3D7-47B0-9FD2-24C12D884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A5E78101-133D-42C7-A438-4DBBCA38B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4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0a6a760059a406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4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b1025a12a984b1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0A687B2-DE2A-4CE6-AE62-DA1CE19D3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12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82848BDD-1AB0-4ECE-B372-AFBA7C34B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10896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V2 isolates the patient, but the task is easy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8094F54-1034-47D1-B8CD-A5096933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5840"/>
            <a:ext cx="539496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Confirmation cohort</a:t>
            </a:r>
          </a:p>
        </p:txBody>
      </p:sp>
      <p:sp>
        <p:nvSpPr>
          <p:cNvPr id="10" name="Rounded Rectangle 9">
            <a:extLst xmlns:a="http://schemas.openxmlformats.org/drawingml/2006/main">
              <a:ext uri="{FF2B5EF4-FFF2-40B4-BE49-F238E27FC236}">
                <a16:creationId xmlns:a16="http://schemas.microsoft.com/office/drawing/2014/main" id="{E6528D01-0C93-4EC0-92E6-9BD808ED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8988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E457F23-C169-4EBC-82E2-C4407A590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1490472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Evidence recall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46EA48B5-06E6-4ADF-A107-480937742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147218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0.994</a:t>
            </a:r>
          </a:p>
        </p:txBody>
      </p:sp>
      <p:sp>
        <p:nvSpPr>
          <p:cNvPr id="13" name="Rounded Rectangle 12">
            <a:extLst xmlns:a="http://schemas.openxmlformats.org/drawingml/2006/main">
              <a:ext uri="{FF2B5EF4-FFF2-40B4-BE49-F238E27FC236}">
                <a16:creationId xmlns:a16="http://schemas.microsoft.com/office/drawing/2014/main" id="{D4B4F993-45E2-4462-9A74-600C56D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029967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A47155F7-6E59-4439-B44F-EB9353E7C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130551"/>
            <a:ext cx="1170432" cy="1981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Qwen Token-F1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2E10E950-ECD6-4347-B25A-A6C8A2687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112263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0.570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28CC02AE-A789-4136-90B1-5FA572FC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67004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7F8750-51A3-4A5C-BE3F-924348E06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2770632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95% confidence interval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2D780443-DC9C-4CA7-8387-B4973084F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275234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[0.556, 0.584]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4C4490FF-B588-45CC-A890-096A99B73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31012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F735466-8787-4E13-8081-A052D917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3410712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Evidence support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6E5E6A52-FE49-4CD3-8934-14A5D4C63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339242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0.830</a:t>
            </a: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C225E0F2-2552-4F0E-9655-C3586EA3C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950208"/>
            <a:ext cx="5212080" cy="5303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28533EB7-70E9-4A56-A8C3-89B1DBD75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" y="4050792"/>
            <a:ext cx="1170432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Answer abstention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0F1B87ED-AA66-421C-8DC5-F39BE9C69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6272" y="4032504"/>
            <a:ext cx="35204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4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0.612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BB3FBDE3-FBEB-45A5-A709-D41E1EBEA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1005840"/>
            <a:ext cx="4572000" cy="2804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6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Validity audit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EEB29D63-59F7-496E-B617-6FAC1E816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389888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B8EBF26-BABC-4061-8581-E46B8B47D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1481328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Extractive baseline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956B6945-F8A4-478C-9922-5A8B0678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1472184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Token-F1 0.997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B68C0CBE-E4BB-4B7F-A5DB-451C83925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1975104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E9F0CEDE-D6C2-456C-B713-FEC5F197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066544"/>
            <a:ext cx="12344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Qwen minus extractive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249F014-F0ED-4C8F-8742-698190742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057400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-0.427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F282E2F0-E839-43A2-AD1C-78411052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2560320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59EE48EF-6E0C-4C63-82E6-B9AE91CDC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2651760"/>
            <a:ext cx="1234440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Candidate pool = qrels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6BD72DBF-848C-4A6D-9D34-829AB54A0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2642616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100% of queries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8E00D00A-9D4D-4851-867B-9D5C6C7C5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145536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68FAFF8F-F257-4C09-9FE4-29CBDEE226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236976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Routed Hit@1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FAA3C5A-A8E5-46EE-BE0E-A87B62A1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227832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1.000; routing check</a:t>
            </a:r>
          </a:p>
        </p:txBody>
      </p:sp>
      <p:sp>
        <p:nvSpPr>
          <p:cNvPr id="38" name="Rounded Rectangle 37">
            <a:extLst xmlns:a="http://schemas.openxmlformats.org/drawingml/2006/main">
              <a:ext uri="{FF2B5EF4-FFF2-40B4-BE49-F238E27FC236}">
                <a16:creationId xmlns:a16="http://schemas.microsoft.com/office/drawing/2014/main" id="{1D081675-6371-47D8-83F6-8AD4CCC1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960" y="3730752"/>
            <a:ext cx="4526280" cy="47548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6880750-671B-4A43-B401-A575C9220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408" y="3822191"/>
            <a:ext cx="1234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Verifier policy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71DF8B4F-026D-46C3-A59C-F88A322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65008" y="3813048"/>
            <a:ext cx="27889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audit_only; filtering reduced F1</a:t>
            </a:r>
          </a:p>
        </p:txBody>
      </p:sp>
      <p:sp>
        <p:nvSpPr>
          <p:cNvPr id="41" name="Rounded Rectangle 40">
            <a:extLst xmlns:a="http://schemas.openxmlformats.org/drawingml/2006/main">
              <a:ext uri="{FF2B5EF4-FFF2-40B4-BE49-F238E27FC236}">
                <a16:creationId xmlns:a16="http://schemas.microsoft.com/office/drawing/2014/main" id="{10B7055B-3630-48FD-AC22-8554E1DED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5349240"/>
            <a:ext cx="1001268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4A034FAD-450B-4CDF-94FE-D01EADE67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720" y="5477256"/>
            <a:ext cx="955548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12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V2 validates case isolation and workflow control, not semantic retrieval or a generation gain.</a:t>
            </a:r>
          </a:p>
        </p:txBody>
      </p:sp>
    </p:spTree>
    <p:extLst>
      <p:ext uri="{BB962C8B-B14F-4D97-AF65-F5344CB8AC3E}">
        <p14:creationId xmlns:p14="http://schemas.microsoft.com/office/powerpoint/2010/main" val="2087289066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742451A2-DA75-4D24-9D15-69E68C1B5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60270916-7381-48DD-B9E5-4F1CCE836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E150735-F637-47D8-9118-957CFD833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8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279ec2a5d0495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39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d8021cdcdd24c7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F9879FEF-97E6-4A11-B69B-3A1A59E73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4EE0465-860D-420F-B57C-2CC453F95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32004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30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The contribution is boundary-aware evaluation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FA9A2312-97C9-4124-BD77-577C673C2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24128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E6FD1DC7-DA5D-466F-B17D-4528AFBBD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115568"/>
            <a:ext cx="141732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Patient scope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9483B732-A87A-4425-B58A-7B1E524AB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097280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Enforce record ownership before semantic retrieval.</a:t>
            </a: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FC1D1428-8A5D-4E94-B0B0-31A71CEE6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024128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56415BB5-EF4D-4A53-9F54-C0668FE3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115568"/>
            <a:ext cx="1417320" cy="377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Cross-case contamination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4F3CCC8D-9F5E-4815-A081-FB485F29A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097280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Quantify when pooled evidence mixes patient records.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0BD09E1E-7A18-4FB3-8260-266CB428CF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20240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81A7339-2EE9-45A8-B3CF-AAE8BA078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011680"/>
            <a:ext cx="1417320" cy="377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Retrieval correctness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A0D0CE13-38D4-4D3D-89D5-3AE07E74D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1993392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Report target-case retrieval separately from answer support.</a:t>
            </a: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EE614C1-E0ED-40F5-A312-1A528C9A8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1920240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A976BC7-D9D8-4A64-885A-643B45E85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011680"/>
            <a:ext cx="141732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Verifier limits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DB1A32A1-514B-4E68-A450-970CB4CF7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1993392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Stress-test polarity and expose wrong-patient confidence.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128A696-6874-44DE-B93E-B4E30521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6352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17D3A49F-CB2B-42EF-8E70-1C2CB37F56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907792"/>
            <a:ext cx="1417320" cy="377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Evidence faithfulness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3325523D-5918-4157-83B3-01C2D5FC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2889504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Measure whether each claim follows from selected evidence.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B5444DD8-E82A-4A45-81BF-43245F662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816352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92AEE6E-F18F-4493-8E79-A69766A87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2907792"/>
            <a:ext cx="1417320" cy="2072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Reproducibility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EF69002-5FD8-415C-AEC0-0EC08DEEA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91271" y="2889504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Freeze splits, policies, result registry, and action traces.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8529462-142C-45AF-B132-6BB1CA563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2463"/>
            <a:ext cx="507492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F57B423-7610-481A-B606-CC0730669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03903"/>
            <a:ext cx="1417320" cy="3779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2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Answer correctness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A15538D1-8F36-43A4-B23C-A0AB4C3C2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4872" y="3785615"/>
            <a:ext cx="3090672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6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Keep reference match distinct from local evidence support.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FF98D7A-6335-43F8-8B35-BE4FFD05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" y="4663440"/>
            <a:ext cx="10698480" cy="8412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B9FA13EC-B715-4AB6-B7E8-7437682CB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800600"/>
            <a:ext cx="1024128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contribution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211D4CD0-6BA2-4260-A35C-A8089F9BA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92" y="5074920"/>
            <a:ext cx="9966960" cy="3596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6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 reproducible method for showing which patient record was selected, what evidence was used, whether the answer followed from it, and when the system should abstain or request review.</a:t>
            </a:r>
          </a:p>
        </p:txBody>
      </p:sp>
    </p:spTree>
    <p:extLst>
      <p:ext uri="{BB962C8B-B14F-4D97-AF65-F5344CB8AC3E}">
        <p14:creationId xmlns:p14="http://schemas.microsoft.com/office/powerpoint/2010/main" val="275080440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6" name="Picture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f0e4e60f134d4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03720" y="45720"/>
            <a:ext cx="2971800" cy="289857"/>
          </a:xfrm>
          <a:prstGeom xmlns:a="http://schemas.openxmlformats.org/drawingml/2006/main" prst="rect">
            <a:avLst/>
          </a:prstGeom>
        </p:spPr>
      </p:pic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F6D95149-0495-46F0-AB46-0BFF86E60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29184"/>
            <a:ext cx="8732520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B1FF24AE-C56D-4EA7-8D2F-1AA3FE24E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329184"/>
            <a:ext cx="256032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ectangle 4">
            <a:extLst xmlns:a="http://schemas.openxmlformats.org/drawingml/2006/main">
              <a:ext uri="{FF2B5EF4-FFF2-40B4-BE49-F238E27FC236}">
                <a16:creationId xmlns:a16="http://schemas.microsoft.com/office/drawing/2014/main" id="{C17BA824-82AB-485D-BDC6-E5D42D8DB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329184"/>
            <a:ext cx="786384" cy="822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80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09744fb97146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457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5673BBB9-50D9-41AB-A7DC-CAF398100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1712" y="649224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2119EC5-1086-4113-BA91-A6A2ADF6A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676656"/>
            <a:ext cx="1060704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8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Demonstration and V3 status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4F1993A6-FE11-43D1-BD53-7858E3E0F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170432"/>
            <a:ext cx="329184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Live dashboard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F41E646-D1EF-48A4-A904-1FE24BD189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508760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053A245-9C43-4297-B1CE-3CFF77D6F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499616"/>
            <a:ext cx="32644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Select an explicit patient case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53E5B0C8-2B90-421A-B836-8B73D5D04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847088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8DA57CCA-8014-4233-8EEF-E7117C1442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1837944"/>
            <a:ext cx="32644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Ask a report-grounded question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5472C9F8-42AC-4279-9156-1751C30D6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185416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F75F567-FEF9-42DA-AC94-420996E46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176272"/>
            <a:ext cx="32644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Inspect retrieved evidence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6DEC00B6-78DA-4CB7-B7BC-36079E05F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523744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773F26D9-0E46-4ECC-8C8B-EAEFE067C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514600"/>
            <a:ext cx="32644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Read the Agent action trace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59794E57-04D5-475C-9D21-2CBFF7102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2862072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FFE8FDF-28DD-4F54-8F47-7EBF11FFF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" y="2852928"/>
            <a:ext cx="326440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Observe answer, abstention, or review flag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FB55C8A5-AA83-4F8A-AB73-E16EED5F1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1170432"/>
            <a:ext cx="310896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Agent actions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AA987F22-382D-4F22-B7A0-AD50D6B63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508760"/>
            <a:ext cx="31089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4E66DF96-8E76-4B09-AED4-CF913A256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572768"/>
            <a:ext cx="12801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D2520C7-3C16-48D5-B6CE-FDD9C3943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517904"/>
            <a:ext cx="2468880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Scope the allowed case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9CE654B9-FF6E-44D5-8B4F-634C56104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1920240"/>
            <a:ext cx="31089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32A6C52C-5CF7-4842-8D72-727D243FB0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1984248"/>
            <a:ext cx="12801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D616E71C-3A1C-4D06-A959-E21B0C290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1929384"/>
            <a:ext cx="2468880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Plan and retrieve evidence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7B7B99E4-BCFF-46BA-AC88-E34F96339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331720"/>
            <a:ext cx="31089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4732BFD-78C0-406F-A6AA-16AB22173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395728"/>
            <a:ext cx="12801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CDC413E-C5CD-451D-9730-7C6446247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340864"/>
            <a:ext cx="2468880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Generate and audit claims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7D7115B9-596F-4F02-8105-8CEF2C239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0560" y="2743200"/>
            <a:ext cx="310896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D9201689-996E-482F-88D5-B6B92D536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2807208"/>
            <a:ext cx="12801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004D24C-205C-4AB4-815E-4514EBB2C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9472" y="2752344"/>
            <a:ext cx="2468880" cy="188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0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Explain the final action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BB0D521B-79BE-4F82-8881-4FCE9C3E3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5279" y="1170432"/>
            <a:ext cx="333756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V3: conditional RadQA extension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963AA7B4-2773-4093-9B92-3AAD0DF20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508760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240960CC-B50F-4AC9-96E2-0162C12C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1499616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SQuAD-style parser ready</a:t>
            </a: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C104AF70-5048-452C-9131-F310CFFD9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1847088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5ECF4C0B-001A-4132-BF2D-525E53B8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1837944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Answerable and unanswerable metrics ready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40E6E4AE-27AB-4048-913E-6F9D9507DB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85416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1FCC9BE1-748A-478A-85B7-32078024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176272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Patient-disjoint split guard ready</a:t>
            </a: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E960B79A-B85B-4427-B314-F83209213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23744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6C81B70F-9997-4D73-9825-8F48E62AB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514600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Threshold selection restricted to development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63DCADDB-A1E2-49F2-82E2-642174BFD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862072"/>
            <a:ext cx="1645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1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5F358C59-067B-4BAA-BC54-7D93C198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7031" y="2852928"/>
            <a:ext cx="3081528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9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Official credentialed files not yet available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9FFD2CA9-72BB-4D9B-B5C0-DA440DF5B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3794760"/>
            <a:ext cx="201168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Demo flow</a:t>
            </a:r>
          </a:p>
        </p:txBody>
      </p:sp>
      <p:sp>
        <p:nvSpPr>
          <p:cNvPr id="45" name="Rounded Rectangle 44">
            <a:extLst xmlns:a="http://schemas.openxmlformats.org/drawingml/2006/main">
              <a:ext uri="{FF2B5EF4-FFF2-40B4-BE49-F238E27FC236}">
                <a16:creationId xmlns:a16="http://schemas.microsoft.com/office/drawing/2014/main" id="{C841E1FF-A38B-4D55-8968-10E73ED90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4206240"/>
            <a:ext cx="141732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EC828E8E-B729-4E19-B9CB-03023F22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4334256"/>
            <a:ext cx="12344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Select</a:t>
            </a:r>
          </a:p>
        </p:txBody>
      </p:sp>
      <p:sp>
        <p:nvSpPr>
          <p:cNvPr id="47" name="Connector 46">
            <a:extLst xmlns:a="http://schemas.openxmlformats.org/drawingml/2006/main">
              <a:ext uri="{FF2B5EF4-FFF2-40B4-BE49-F238E27FC236}">
                <a16:creationId xmlns:a16="http://schemas.microsoft.com/office/drawing/2014/main" id="{EF77ADA0-C5D0-4513-823D-4101B420F7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67128" y="4425696"/>
            <a:ext cx="75895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266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Rounded Rectangle 47">
            <a:extLst xmlns:a="http://schemas.openxmlformats.org/drawingml/2006/main">
              <a:ext uri="{FF2B5EF4-FFF2-40B4-BE49-F238E27FC236}">
                <a16:creationId xmlns:a16="http://schemas.microsoft.com/office/drawing/2014/main" id="{219ABC4D-E8A4-452D-8CD6-C823B2E35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6080" y="4206240"/>
            <a:ext cx="141732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6A5B4555-2BC6-43AF-9C16-4FCEEC508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7520" y="4334256"/>
            <a:ext cx="12344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Scope</a:t>
            </a:r>
          </a:p>
        </p:txBody>
      </p:sp>
      <p:sp>
        <p:nvSpPr>
          <p:cNvPr id="50" name="Connector 49">
            <a:extLst xmlns:a="http://schemas.openxmlformats.org/drawingml/2006/main">
              <a:ext uri="{FF2B5EF4-FFF2-40B4-BE49-F238E27FC236}">
                <a16:creationId xmlns:a16="http://schemas.microsoft.com/office/drawing/2014/main" id="{3BE61873-5CE0-42C7-A520-12D6F1D2A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425696"/>
            <a:ext cx="75895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266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DB137C9B-7297-417E-A045-41DAF7890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2352" y="4206240"/>
            <a:ext cx="141732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F2811686-9672-4E03-93EA-0960CC2B6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3792" y="4334256"/>
            <a:ext cx="12344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3" name="Connector 52">
            <a:extLst xmlns:a="http://schemas.openxmlformats.org/drawingml/2006/main">
              <a:ext uri="{FF2B5EF4-FFF2-40B4-BE49-F238E27FC236}">
                <a16:creationId xmlns:a16="http://schemas.microsoft.com/office/drawing/2014/main" id="{DFC10559-419B-42FC-BF30-F04E45F7E6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672" y="4425696"/>
            <a:ext cx="75895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266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2B9B79F5-E155-4859-BB77-4E3E32C42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78624" y="4206240"/>
            <a:ext cx="141732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0749380B-86A7-4521-B4D2-06C3C57D9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0064" y="4334256"/>
            <a:ext cx="12344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Audit</a:t>
            </a:r>
          </a:p>
        </p:txBody>
      </p:sp>
      <p:sp>
        <p:nvSpPr>
          <p:cNvPr id="56" name="Connector 55">
            <a:extLst xmlns:a="http://schemas.openxmlformats.org/drawingml/2006/main">
              <a:ext uri="{FF2B5EF4-FFF2-40B4-BE49-F238E27FC236}">
                <a16:creationId xmlns:a16="http://schemas.microsoft.com/office/drawing/2014/main" id="{1145897D-C0A7-4404-893A-90BE7B3C9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95944" y="4425696"/>
            <a:ext cx="758952" cy="0"/>
          </a:xfrm>
          <a:prstGeom xmlns:a="http://schemas.openxmlformats.org/drawingml/2006/main" prst="line">
            <a:avLst/>
          </a:prstGeom>
          <a:ln xmlns:a="http://schemas.openxmlformats.org/drawingml/2006/main" w="22860">
            <a:solidFill>
              <a:srgbClr val="002666"/>
            </a:solidFill>
          </a:ln>
        </p:spPr>
        <p:style>
          <a:lnRef xmlns:a="http://schemas.openxmlformats.org/drawingml/2006/main" idx="2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1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02F79808-B065-41E3-A7F7-92371DE0A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54896" y="4206240"/>
            <a:ext cx="1417320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EF5FC"/>
          </a:solidFill>
          <a:ln xmlns:a="http://schemas.openxmlformats.org/drawingml/2006/main" w="15240">
            <a:solidFill>
              <a:srgbClr val="00266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5DCD31B4-50E5-42BB-B752-A2E02E856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46336" y="4334256"/>
            <a:ext cx="1234440" cy="17830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93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Explain</a:t>
            </a: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F1A868A2-27DC-4E7C-B97C-21A4B6DA6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4983480"/>
            <a:ext cx="2011680" cy="2651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5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Limits</a:t>
            </a:r>
          </a:p>
        </p:txBody>
      </p:sp>
      <p:sp>
        <p:nvSpPr>
          <p:cNvPr id="60" name="Rounded Rectangle 59">
            <a:extLst xmlns:a="http://schemas.openxmlformats.org/drawingml/2006/main">
              <a:ext uri="{FF2B5EF4-FFF2-40B4-BE49-F238E27FC236}">
                <a16:creationId xmlns:a16="http://schemas.microsoft.com/office/drawing/2014/main" id="{8523743D-6E17-4049-887E-FA3AC223C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493776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79A17FAA-C2E5-466A-B303-3A415094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500634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No independent human evaluation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C5EF04E9-B851-479E-809A-77D654789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493776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24ABF3BB-4717-4929-BFBA-D28C9EB6D9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500634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V1 query ambiguity</a:t>
            </a:r>
          </a:p>
        </p:txBody>
      </p:sp>
      <p:sp>
        <p:nvSpPr>
          <p:cNvPr id="64" name="Rounded Rectangle 63">
            <a:extLst xmlns:a="http://schemas.openxmlformats.org/drawingml/2006/main">
              <a:ext uri="{FF2B5EF4-FFF2-40B4-BE49-F238E27FC236}">
                <a16:creationId xmlns:a16="http://schemas.microsoft.com/office/drawing/2014/main" id="{21283E55-5A58-468E-9757-A5F84A84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493776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08D95A85-ABDD-4730-8F26-F8339C1E7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00634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V2 routing is too easy</a:t>
            </a:r>
          </a:p>
        </p:txBody>
      </p:sp>
      <p:sp>
        <p:nvSpPr>
          <p:cNvPr id="66" name="Rounded Rectangle 65">
            <a:extLst xmlns:a="http://schemas.openxmlformats.org/drawingml/2006/main">
              <a:ext uri="{FF2B5EF4-FFF2-40B4-BE49-F238E27FC236}">
                <a16:creationId xmlns:a16="http://schemas.microsoft.com/office/drawing/2014/main" id="{523079E5-1CD4-462D-AF5A-3291823AB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34924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8F716875-5F0B-45CB-AF5E-231D32CE4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9112" y="541782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Text-only evidence</a:t>
            </a:r>
          </a:p>
        </p:txBody>
      </p:sp>
      <p:sp>
        <p:nvSpPr>
          <p:cNvPr id="68" name="Rounded Rectangle 67">
            <a:extLst xmlns:a="http://schemas.openxmlformats.org/drawingml/2006/main">
              <a:ext uri="{FF2B5EF4-FFF2-40B4-BE49-F238E27FC236}">
                <a16:creationId xmlns:a16="http://schemas.microsoft.com/office/drawing/2014/main" id="{72A4B1D5-8F7F-41C0-8A6F-6906050CB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534924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TextBox 68">
            <a:extLst xmlns:a="http://schemas.openxmlformats.org/drawingml/2006/main">
              <a:ext uri="{FF2B5EF4-FFF2-40B4-BE49-F238E27FC236}">
                <a16:creationId xmlns:a16="http://schemas.microsoft.com/office/drawing/2014/main" id="{9D093FFC-765C-41C0-A51B-0B4C1B6D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541782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RadQA needs credentialed data</a:t>
            </a:r>
          </a:p>
        </p:txBody>
      </p:sp>
      <p:sp>
        <p:nvSpPr>
          <p:cNvPr id="70" name="Rounded Rectangle 69">
            <a:extLst xmlns:a="http://schemas.openxmlformats.org/drawingml/2006/main">
              <a:ext uri="{FF2B5EF4-FFF2-40B4-BE49-F238E27FC236}">
                <a16:creationId xmlns:a16="http://schemas.microsoft.com/office/drawing/2014/main" id="{2937E15D-FE7F-49E6-8E57-FFD9079BC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5240" y="5349240"/>
            <a:ext cx="251460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D3"/>
          </a:solidFill>
          <a:ln xmlns:a="http://schemas.openxmlformats.org/drawingml/2006/main" w="15240">
            <a:solidFill>
              <a:srgbClr val="FFCC0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FA2BAB83-4F1D-4594-BC39-99BCAB204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8392" y="5417820"/>
            <a:ext cx="2331720" cy="1690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869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No clinical deployment</a:t>
            </a:r>
          </a:p>
        </p:txBody>
      </p:sp>
      <p:sp>
        <p:nvSpPr>
          <p:cNvPr id="72" name="Rounded Rectangle 71">
            <a:extLst xmlns:a="http://schemas.openxmlformats.org/drawingml/2006/main">
              <a:ext uri="{FF2B5EF4-FFF2-40B4-BE49-F238E27FC236}">
                <a16:creationId xmlns:a16="http://schemas.microsoft.com/office/drawing/2014/main" id="{402D01DB-9A9D-4268-B45B-A3DB8A1F7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797296"/>
            <a:ext cx="10652760" cy="38404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134F8697-4ACD-4D5C-8FB3-494935874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907024"/>
            <a:ext cx="10195560" cy="1965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0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V3 enters the thesis only after legal PhysioNet access; synthetic fixtures are software tests, not results.</a:t>
            </a:r>
          </a:p>
        </p:txBody>
      </p:sp>
    </p:spTree>
    <p:extLst>
      <p:ext uri="{BB962C8B-B14F-4D97-AF65-F5344CB8AC3E}">
        <p14:creationId xmlns:p14="http://schemas.microsoft.com/office/powerpoint/2010/main" val="1275144733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4159C5C-A617-42C5-BC2C-298A8F7E6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291072"/>
            <a:ext cx="8732520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Rectangle 2">
            <a:extLst xmlns:a="http://schemas.openxmlformats.org/drawingml/2006/main">
              <a:ext uri="{FF2B5EF4-FFF2-40B4-BE49-F238E27FC236}">
                <a16:creationId xmlns:a16="http://schemas.microsoft.com/office/drawing/2014/main" id="{40CD7F7D-C6DC-4121-B320-F8E10D6C9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2520" y="6291072"/>
            <a:ext cx="256032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C00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Rectangle 3">
            <a:extLst xmlns:a="http://schemas.openxmlformats.org/drawingml/2006/main">
              <a:ext uri="{FF2B5EF4-FFF2-40B4-BE49-F238E27FC236}">
                <a16:creationId xmlns:a16="http://schemas.microsoft.com/office/drawing/2014/main" id="{613892A2-3FF6-4D21-B86C-FBB701658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88552" y="6291072"/>
            <a:ext cx="786384" cy="731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C0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34" name="Picture 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2012aa7e7c49e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931152" y="6473952"/>
            <a:ext cx="2834640" cy="276479"/>
          </a:xfrm>
          <a:prstGeom xmlns:a="http://schemas.openxmlformats.org/drawingml/2006/main" prst="rect">
            <a:avLst/>
          </a:prstGeom>
        </p:spPr>
      </p:pic>
      <p:pic>
        <p:nvPicPr>
          <p:cNvPr id="35" name="Picture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84ceee95e041a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104120" y="5989320"/>
            <a:ext cx="1783080" cy="556399"/>
          </a:xfrm>
          <a:prstGeom xmlns:a="http://schemas.openxmlformats.org/drawingml/2006/main" prst="rect">
            <a:avLst/>
          </a:prstGeom>
        </p:spPr>
      </p:pic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C2453FE1-8073-4DE4-B921-EF4C33D8B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19488" y="5943600"/>
            <a:ext cx="320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00" b="0">
                <a:solidFill>
                  <a:srgbClr val="737C87"/>
                </a:solidFill>
                <a:latin typeface="Arial"/>
                <a:ea typeface="Arial"/>
                <a:cs typeface="Arial"/>
              </a:rPr>
              <a:t>15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4D015C02-BD0D-4125-BDF8-CB2338B7A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11480"/>
            <a:ext cx="1097280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29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Conclusion: patient scope must precede retrieval</a:t>
            </a:r>
          </a:p>
        </p:txBody>
      </p:sp>
      <p:sp>
        <p:nvSpPr>
          <p:cNvPr id="9" name="Rounded Rectangle 8">
            <a:extLst xmlns:a="http://schemas.openxmlformats.org/drawingml/2006/main">
              <a:ext uri="{FF2B5EF4-FFF2-40B4-BE49-F238E27FC236}">
                <a16:creationId xmlns:a16="http://schemas.microsoft.com/office/drawing/2014/main" id="{4B28764E-865F-4305-B2B8-D0FF6C2CF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143000"/>
            <a:ext cx="6949440" cy="4572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BFF"/>
          </a:solidFill>
          <a:ln xmlns:a="http://schemas.openxmlformats.org/drawingml/2006/main" w="15240">
            <a:solidFill>
              <a:srgbClr val="CDD7E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87694E5-8974-4850-B743-8B05DABFC2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1344168"/>
            <a:ext cx="6446520" cy="24993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40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What the project establishes</a:t>
            </a:r>
          </a:p>
        </p:txBody>
      </p:sp>
      <p:sp>
        <p:nvSpPr>
          <p:cNvPr id="11" name="TextBox 10">
            <a:extLst xmlns:a="http://schemas.openxmlformats.org/drawingml/2006/main">
              <a:ext uri="{FF2B5EF4-FFF2-40B4-BE49-F238E27FC236}">
                <a16:creationId xmlns:a16="http://schemas.microsoft.com/office/drawing/2014/main" id="{3391618B-46AF-4049-80BE-F0D4606D4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700784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2" name="TextBox 11">
            <a:extLst xmlns:a="http://schemas.openxmlformats.org/drawingml/2006/main">
              <a:ext uri="{FF2B5EF4-FFF2-40B4-BE49-F238E27FC236}">
                <a16:creationId xmlns:a16="http://schemas.microsoft.com/office/drawing/2014/main" id="{A1B21001-F19D-440D-8AD4-CA4ADEF75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1696212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RAG beats LLM-only, but absolute V1 answer quality remains low.</a:t>
            </a: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CA09E206-89C0-4422-9647-599760049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17627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0D849DF9-7194-4164-B19B-67188684B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171700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Correct-case retrieval is the dominant measured bottleneck.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BBF99762-890C-4105-BBFB-75C65653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651760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8F1A1A5C-E93F-4DD2-9787-84FD71519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2647188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Evidence support does not prove patient correctness.</a:t>
            </a: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23A0E65F-3017-492E-84D1-DC25ECF2C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127248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463F8C51-89CA-4C50-A1BA-C33D22585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122676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Explicit case scope prevents cross-case retrieval in V2.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D17F97-42A1-4D53-91E9-18EA03284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602736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7FD5B61-8B4F-4BDD-80A6-675C19C6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3598164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V2 does not show that generation adds value over extraction.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A7596CB-0A87-4B5F-83A7-04CAF6257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078224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6DD8C53F-8E5E-426E-BD43-3357AE3F9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4073652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Agent decisions are auditable and controlled by calibrated policies.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10F130A0-E8A9-40D2-A910-8066EB284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53712"/>
            <a:ext cx="164592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1080" b="1">
                <a:solidFill>
                  <a:srgbClr val="002666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A0CD012-056B-4E2E-8501-2C6DB0F0B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584" y="4549140"/>
            <a:ext cx="6135624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</a:pPr>
            <a:r>
              <a:rPr sz="880" b="0">
                <a:solidFill>
                  <a:srgbClr val="000000"/>
                </a:solidFill>
                <a:latin typeface="Arial"/>
                <a:ea typeface="Arial"/>
                <a:cs typeface="Arial"/>
              </a:rPr>
              <a:t>Automated evidence metrics are reported; no human or clinical validation is claimed.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C39986E8-85E9-4966-98AE-61C012DE51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0" y="1417320"/>
            <a:ext cx="3063240" cy="3474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266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723BE04E-E029-4C43-BE08-C1D5014D9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6760" y="2057400"/>
            <a:ext cx="2514600" cy="5486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30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3503BF9-1D97-43FF-BCD0-260EC6F2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9327" y="2907792"/>
            <a:ext cx="2560320" cy="3200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9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Questions &amp; Answers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E8766386-58F7-442E-BE27-9E6B9C010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3913632"/>
            <a:ext cx="26974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 anchor="t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250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Zhang Yue
Master of Artificial Intelligence</a:t>
            </a:r>
          </a:p>
        </p:txBody>
      </p:sp>
    </p:spTree>
    <p:extLst>
      <p:ext uri="{BB962C8B-B14F-4D97-AF65-F5344CB8AC3E}">
        <p14:creationId xmlns:p14="http://schemas.microsoft.com/office/powerpoint/2010/main" val="419557202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2026-08-16T05:52:47.5310000Z</dcterms:created>
  <dcterms:modified xsi:type="dcterms:W3CDTF">2026-08-16T05:52:47.5310000Z</dcterms:modified>
</coreProperties>
</file>